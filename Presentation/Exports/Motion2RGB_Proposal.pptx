
<file path=[Content_Types].xml><?xml version="1.0" encoding="utf-8"?>
<Types xmlns="http://schemas.openxmlformats.org/package/2006/content-types">
  <Default Extension="jpeg" ContentType="image/jpeg"/>
  <Default Extension="jp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zh-CN"/>
    </a:defPPr>
    <a:lvl1pPr marL="0" algn="l" defTabSz="457200" rtl="0" eaLnBrk="1" latinLnBrk="0" hangingPunct="1">
      <a:defRPr lang="zh-CN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lang="zh-CN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lang="zh-CN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lang="zh-CN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lang="zh-CN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lang="zh-CN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lang="zh-CN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lang="zh-CN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lang="zh-CN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3402" autoAdjust="0"/>
  </p:normalViewPr>
  <p:slideViewPr>
    <p:cSldViewPr snapToGrid="0" snapToObjects="1">
      <p:cViewPr varScale="1">
        <p:scale>
          <a:sx n="89" d="100"/>
          <a:sy n="89" d="100"/>
        </p:scale>
        <p:origin x="844" y="6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/>
          <a:lstStyle/>
          <a:p>
            <a:endParaRPr lang="zh-C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/>
          <a:lstStyle/>
          <a:p>
            <a:endParaRPr lang="zh-C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/>
          <a:p>
            <a:endParaRPr lang="zh-C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/>
          <a:lstStyle/>
          <a:p>
            <a:endParaRPr lang="zh-C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/>
          <a:lstStyle/>
          <a:p>
            <a:endParaRPr 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/>
  <p:notesStyle>
    <a:lvl1pPr marL="0" algn="l">
      <a:defRPr lang="zh-CN" sz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大家好，我的课程项目是 Motion2RGB，面向 Sim-to-Real 的运动状态驱动视觉退化仿真系统。这个项目已经完成初版 Unity Demo。封面就是实际运行画面，左边是 Clean RGB 参考，右边是退化 RGB。我想研究的是：同一个虚拟场景里，当机器人行走或者转向时，第一视角图像应该怎样随着相机运动发生变化。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动机来自仿真采集和真实采集的差异。仿真相机通常给出某一瞬间清晰的渲染结果，而实际机器人移动时，步态会带来头部扰动，转向也会改变相机姿态。在曝光期间，这些运动会影响图像。这里两幅图都来自我们的 Demo，右图是模拟效果，不是真实相机数据。RobustNav 讨论了视觉与动力学退化下的导航鲁棒性，Domain Randomization 则说明了模拟图像变化的研究价值。本项目聚焦其中的视觉采集环节，目标是生成可控制、可对比的 RGB 观测。</a:t>
            </a:r>
          </a:p>
          <a:p>
            <a:endParaRPr/>
          </a:p>
          <a:p>
            <a:r>
              <a:t>参考文献（不计入讲述）：</a:t>
            </a:r>
          </a:p>
          <a:p>
            <a:r>
              <a:t>Chattopadhyay et al. RobustNav. ICCV 2021.</a:t>
            </a:r>
          </a:p>
          <a:p>
            <a:r>
              <a:t>https://openaccess.thecvf.com/content/ICCV2021/html/Chattopadhyay_RobustNav_Towards_Benchmarking_Robustness_in_Embodied_Navigation_ICCV_2021_paper.html</a:t>
            </a:r>
          </a:p>
          <a:p>
            <a:r>
              <a:t>Tobin et al. Domain Randomization. IROS 2017.</a:t>
            </a:r>
          </a:p>
          <a:p>
            <a:r>
              <a:t>https://arxiv.org/abs/1703.06907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问题可以分成四个环节。首先测量运动状态，包括速度、角速度和步频。速度与步幅决定每秒走多少步，然后共享步态相位生成相机扰动。行走、转向和跳跃共同改变相机实际位姿。接下来，利用位姿变化和场景深度估计屏幕上的像素运动，再进行模糊采样，最后得到 RGB 观测。Walking、Running 和 Turning 是展示用状态标签，模糊并不是按标签查一个固定强度。即使平移很小，原地转向也可以通过相机旋转产生退化。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系统使用 Unity 二零二二的 Built-in 管线。控制器先移动 PlayerRig，运动测量模块读取位姿变化，步态模块同时驱动头部扰动和机器人的程序化动作。两条成像分支共享同一个室内场景。Clean 相机提供稳定的基础位姿参考，Degraded 相机接收步态扰动，并通过 OnRenderImage 调用自定义 Shader。两台相机输出各自的 RenderTexture，最后由 UGUI 并排显示。UI 已接入速度、步幅、扰动幅度、模糊强度和曝光代理参数。Same Pose 会把退化相机复制到 Clean 位姿，用于单独比较图像后处理。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核心方法有两部分。步态频率等于速度除以步幅。当前代码里，一个完整左右周期包含两步，因此相位每帧增加的是派乘步频乘时间间隔。横向和垂直位移使用不同谐波，pitch 和 roll 同步变化，并做指数平滑。模糊部分读取深度，通过当前和历史相机矩阵重投影，得到像素位移，再乘曝光代理、强度和运动增益。Shader 沿轨迹追加二十个样本，深度差越大权重越低，再归一化权重。必须说明，这是 heuristic approximation。运动增益和深度距离截断是艺术参数，曝光没有实机标定，也没有完整模拟曝光过程中的加速度和动态物体。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现在播放约二十秒的真实 Demo。请关注左侧清晰参考和右侧退化图像，在行走、跑步与转向过程中怎样变化。机器人观察窗和底部参数面板也是现有实现。视频播放后，我们可以确认当前已有实时双 RGB 和可控运动原型，但还没有真实相机标定、图像质量量化或导航鲁棒性收益的实验结论。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后续必做工作是丰富室内场景和运动模式，验证目前已实现的深度重投影与运动平滑，再通过 Same Pose 做消融，记录清晰度、图像差异和帧耗时，形成最终系统展示与期末报告。真实相机标定、动态物体运动模糊，以及接入导航评测属于可选研究扩展。预期产出是一个能重复控制运动状态、采集第一视角 RGB 并观察退化差异的系统，为后续视觉导航鲁棒性评测提供实验原型。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Motion2RGB_Proposal —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altLang="zh-CN" smtClean="0"/>
              <a:t>10/12/2026</a:t>
            </a:fld>
            <a:endParaRPr lang="zh-C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zh-CN" smtClean="0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otion2RGB_Proposal — 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lang="zh-CN"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altLang="zh-CN" smtClean="0"/>
              <a:t>10/12/2026</a:t>
            </a:fld>
            <a:endParaRPr 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lang="zh-CN"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lang="zh-CN"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zh-CN" smtClean="0"/>
              <a:t>‹#›</a:t>
            </a:fld>
            <a:endParaRPr 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1"/>
  </p:sldLayoutIdLst>
  <p:txStyles>
    <p:titleStyle>
      <a:lvl1pPr algn="ctr" defTabSz="457200" rtl="0" eaLnBrk="1" latinLnBrk="0" hangingPunct="1">
        <a:spcBef>
          <a:spcPct val="0"/>
        </a:spcBef>
        <a:buNone/>
        <a:defRPr lang="zh-CN" sz="30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lang="zh-CN"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lang="zh-CN" sz="195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lang="zh-CN" sz="185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lang="zh-CN" sz="17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lang="zh-CN"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lang="zh-CN" sz="145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lang="zh-CN" sz="13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lang="zh-CN" sz="12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lang="zh-CN" sz="10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457200" rtl="0" eaLnBrk="1" latinLnBrk="0" hangingPunct="1">
        <a:defRPr lang="zh-CN"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lang="zh-CN" sz="195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lang="zh-CN" sz="185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lang="zh-CN" sz="17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lang="zh-CN"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lang="zh-CN" sz="145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lang="zh-CN" sz="13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lang="zh-CN" sz="12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lang="zh-CN" sz="10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jpg"/><Relationship Id="rId5" Type="http://schemas.openxmlformats.org/officeDocument/2006/relationships/image" Target="../media/image4.jpg"/><Relationship Id="rId4" Type="http://schemas.openxmlformats.org/officeDocument/2006/relationships/image" Target="../media/image3.jp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5" Type="http://schemas.openxmlformats.org/officeDocument/2006/relationships/image" Target="../media/image6.png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project-title"/>
          <p:cNvGrpSpPr/>
          <p:nvPr/>
        </p:nvGrpSpPr>
        <p:grpSpPr>
          <a:xfrm>
            <a:off x="438150" y="517525"/>
            <a:ext cx="11305032" cy="1735582"/>
            <a:chOff x="438150" y="517525"/>
            <a:chExt cx="11305032" cy="1735582"/>
          </a:xfrm>
        </p:grpSpPr>
        <p:sp>
          <p:nvSpPr>
            <p:cNvPr id="2" name="TextBox 2"/>
            <p:cNvSpPr txBox="1"/>
            <p:nvPr/>
          </p:nvSpPr>
          <p:spPr>
            <a:xfrm>
              <a:off x="438150" y="517525"/>
              <a:ext cx="3828867" cy="9334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4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Motion2RGB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474345" y="1263650"/>
              <a:ext cx="7278130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2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Motion-Conditioned Visual Degradation Simulation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475107" y="1679575"/>
              <a:ext cx="6645008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面向 Sim-to-Real 的运动状态驱动视觉退化仿真系统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9999936" y="1930400"/>
              <a:ext cx="174324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65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for Sim-to-Real</a:t>
              </a:r>
            </a:p>
          </p:txBody>
        </p:sp>
      </p:grpSp>
      <p:grpSp>
        <p:nvGrpSpPr>
          <p:cNvPr id="8" name="hero-demo"/>
          <p:cNvGrpSpPr/>
          <p:nvPr/>
        </p:nvGrpSpPr>
        <p:grpSpPr>
          <a:xfrm>
            <a:off x="1331908" y="2293556"/>
            <a:ext cx="9500524" cy="3088132"/>
            <a:chOff x="676275" y="2505075"/>
            <a:chExt cx="10838498" cy="3843338"/>
          </a:xfrm>
        </p:grpSpPr>
        <p:pic>
          <p:nvPicPr>
            <p:cNvPr id="7" name="Image 7"/>
            <p:cNvPicPr>
              <a:picLocks noChangeAspect="1"/>
            </p:cNvPicPr>
            <p:nvPr/>
          </p:nvPicPr>
          <p:blipFill>
            <a:blip r:embed="rId3"/>
            <a:srcRect t="7292" b="26042"/>
            <a:stretch>
              <a:fillRect/>
            </a:stretch>
          </p:blipFill>
          <p:spPr>
            <a:xfrm>
              <a:off x="676275" y="2505075"/>
              <a:ext cx="10838498" cy="3843338"/>
            </a:xfrm>
            <a:prstGeom prst="rect">
              <a:avLst/>
            </a:prstGeom>
          </p:spPr>
        </p:pic>
      </p:grpSp>
      <p:grpSp>
        <p:nvGrpSpPr>
          <p:cNvPr id="12" name="page-footer"/>
          <p:cNvGrpSpPr/>
          <p:nvPr/>
        </p:nvGrpSpPr>
        <p:grpSpPr>
          <a:xfrm>
            <a:off x="451866" y="6477000"/>
            <a:ext cx="11288268" cy="297434"/>
            <a:chOff x="451866" y="6477000"/>
            <a:chExt cx="11288268" cy="297434"/>
          </a:xfrm>
        </p:grpSpPr>
        <p:sp>
          <p:nvSpPr>
            <p:cNvPr id="9" name="Line 9"/>
            <p:cNvSpPr/>
            <p:nvPr/>
          </p:nvSpPr>
          <p:spPr>
            <a:xfrm>
              <a:off x="457200" y="6477000"/>
              <a:ext cx="11277600" cy="9525"/>
            </a:xfrm>
            <a:custGeom>
              <a:avLst/>
              <a:gdLst/>
              <a:ahLst/>
              <a:cxnLst/>
              <a:rect l="l" t="t" r="r" b="b"/>
              <a:pathLst>
                <a:path w="11277600" h="9525">
                  <a:moveTo>
                    <a:pt x="0" y="0"/>
                  </a:moveTo>
                  <a:lnTo>
                    <a:pt x="11277600" y="0"/>
                  </a:lnTo>
                </a:path>
              </a:pathLst>
            </a:custGeom>
            <a:noFill/>
            <a:ln w="14288">
              <a:solidFill>
                <a:schemeClr val="accent6"/>
              </a:solidFill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451866" y="6569075"/>
              <a:ext cx="268177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Motion2RGB / VR 课程开题 / 2026.10.15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1255940" y="6569075"/>
              <a:ext cx="4841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01 / 07</a:t>
              </a:r>
            </a:p>
          </p:txBody>
        </p:sp>
      </p:grpSp>
      <p:sp>
        <p:nvSpPr>
          <p:cNvPr id="14" name="TextBox 4">
            <a:extLst>
              <a:ext uri="{FF2B5EF4-FFF2-40B4-BE49-F238E27FC236}">
                <a16:creationId xmlns:a16="http://schemas.microsoft.com/office/drawing/2014/main" id="{F3BB84AD-EF22-8D0B-841E-4F4ADA756294}"/>
              </a:ext>
            </a:extLst>
          </p:cNvPr>
          <p:cNvSpPr txBox="1"/>
          <p:nvPr/>
        </p:nvSpPr>
        <p:spPr>
          <a:xfrm>
            <a:off x="5044226" y="5422137"/>
            <a:ext cx="2075889" cy="91185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>
              <a:lnSpc>
                <a:spcPct val="150000"/>
              </a:lnSpc>
            </a:pPr>
            <a:r>
              <a:rPr lang="en-US" altLang="zh-CN" sz="2100" dirty="0">
                <a:solidFill>
                  <a:schemeClr val="dk1"/>
                </a:solidFill>
              </a:rPr>
              <a:t>23231088 </a:t>
            </a:r>
            <a:r>
              <a:rPr lang="zh-CN" altLang="en-US" sz="2100" dirty="0">
                <a:solidFill>
                  <a:schemeClr val="dk1"/>
                </a:solidFill>
              </a:rPr>
              <a:t>黄祥耘</a:t>
            </a:r>
            <a:endParaRPr lang="en-US" altLang="zh-CN" sz="2100" dirty="0">
              <a:solidFill>
                <a:schemeClr val="dk1"/>
              </a:solidFill>
            </a:endParaRPr>
          </a:p>
          <a:p>
            <a:pPr>
              <a:lnSpc>
                <a:spcPct val="150000"/>
              </a:lnSpc>
            </a:pPr>
            <a:r>
              <a:rPr lang="en-US" altLang="zh-CN" sz="2100" dirty="0">
                <a:solidFill>
                  <a:schemeClr val="dk1"/>
                </a:solidFill>
              </a:rPr>
              <a:t>24371095 </a:t>
            </a:r>
            <a:r>
              <a:rPr lang="zh-CN" altLang="en-US" sz="2100" dirty="0">
                <a:solidFill>
                  <a:schemeClr val="dk1"/>
                </a:solidFill>
              </a:rPr>
              <a:t>罗钰萱</a:t>
            </a:r>
            <a:endParaRPr lang="zh-CN" sz="2100" dirty="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page-title"/>
          <p:cNvGrpSpPr/>
          <p:nvPr/>
        </p:nvGrpSpPr>
        <p:grpSpPr>
          <a:xfrm>
            <a:off x="441960" y="479425"/>
            <a:ext cx="2689729" cy="859282"/>
            <a:chOff x="441960" y="479425"/>
            <a:chExt cx="2689729" cy="859282"/>
          </a:xfrm>
        </p:grpSpPr>
        <p:sp>
          <p:nvSpPr>
            <p:cNvPr id="2" name="TextBox 2"/>
            <p:cNvSpPr txBox="1"/>
            <p:nvPr/>
          </p:nvSpPr>
          <p:spPr>
            <a:xfrm>
              <a:off x="441960" y="479425"/>
              <a:ext cx="2049780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背景与动机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467868" y="1016000"/>
              <a:ext cx="266382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Background &amp; Motivation</a:t>
              </a:r>
            </a:p>
          </p:txBody>
        </p:sp>
      </p:grpSp>
      <p:grpSp>
        <p:nvGrpSpPr>
          <p:cNvPr id="10" name="ideal-camera"/>
          <p:cNvGrpSpPr/>
          <p:nvPr/>
        </p:nvGrpSpPr>
        <p:grpSpPr>
          <a:xfrm>
            <a:off x="445770" y="1449832"/>
            <a:ext cx="5402580" cy="3660775"/>
            <a:chOff x="445770" y="1682750"/>
            <a:chExt cx="5402580" cy="3660775"/>
          </a:xfrm>
        </p:grpSpPr>
        <p:sp>
          <p:nvSpPr>
            <p:cNvPr id="5" name="TextBox 5"/>
            <p:cNvSpPr txBox="1"/>
            <p:nvPr/>
          </p:nvSpPr>
          <p:spPr>
            <a:xfrm>
              <a:off x="445770" y="1682750"/>
              <a:ext cx="1840230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理想仿真采集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446532" y="2076450"/>
              <a:ext cx="3488436" cy="81076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3150"/>
                </a:lnSpc>
              </a:pPr>
              <a:r>
                <a:rPr lang="zh-CN" sz="21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瞬时渲染的清晰 RGB</a:t>
              </a:r>
              <a:br>
                <a:rPr lang="zh-CN" sz="21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</a:br>
              <a:r>
                <a:rPr lang="zh-CN" sz="21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较少显式模拟步态和曝光运动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457200" y="5086350"/>
              <a:ext cx="5391150" cy="257175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</p:sp>
      </p:grpSp>
      <p:grpSp>
        <p:nvGrpSpPr>
          <p:cNvPr id="16" name="moving-camera"/>
          <p:cNvGrpSpPr/>
          <p:nvPr/>
        </p:nvGrpSpPr>
        <p:grpSpPr>
          <a:xfrm>
            <a:off x="6332220" y="1425575"/>
            <a:ext cx="5402580" cy="3660775"/>
            <a:chOff x="6332220" y="1682750"/>
            <a:chExt cx="5402580" cy="3660775"/>
          </a:xfrm>
        </p:grpSpPr>
        <p:sp>
          <p:nvSpPr>
            <p:cNvPr id="11" name="TextBox 11"/>
            <p:cNvSpPr txBox="1"/>
            <p:nvPr/>
          </p:nvSpPr>
          <p:spPr>
            <a:xfrm>
              <a:off x="6332220" y="1682750"/>
              <a:ext cx="2748915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真实运动采集的因素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6332982" y="2076450"/>
              <a:ext cx="3221736" cy="81076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3150"/>
                </a:lnSpc>
              </a:pPr>
              <a:r>
                <a:rPr lang="zh-CN" sz="21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步态、转向扰动相机轨迹</a:t>
              </a:r>
              <a:br>
                <a:rPr lang="zh-CN" sz="21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</a:br>
              <a:r>
                <a:rPr lang="zh-CN" sz="21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曝光期间运动造成图像退化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6343650" y="5086350"/>
              <a:ext cx="5391150" cy="257175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</p:sp>
      </p:grpSp>
      <p:grpSp>
        <p:nvGrpSpPr>
          <p:cNvPr id="19" name="scope"/>
          <p:cNvGrpSpPr/>
          <p:nvPr/>
        </p:nvGrpSpPr>
        <p:grpSpPr>
          <a:xfrm>
            <a:off x="457200" y="5638800"/>
            <a:ext cx="11277600" cy="628650"/>
            <a:chOff x="457200" y="5638800"/>
            <a:chExt cx="11277600" cy="628650"/>
          </a:xfrm>
        </p:grpSpPr>
        <p:sp>
          <p:nvSpPr>
            <p:cNvPr id="17" name="Rectangle 17"/>
            <p:cNvSpPr/>
            <p:nvPr/>
          </p:nvSpPr>
          <p:spPr>
            <a:xfrm>
              <a:off x="457200" y="5638800"/>
              <a:ext cx="11277600" cy="62865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626745" y="5749925"/>
              <a:ext cx="5908839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研究范围：Sim-to-Real 中的视觉采集差异</a:t>
              </a:r>
            </a:p>
          </p:txBody>
        </p:sp>
      </p:grpSp>
      <p:grpSp>
        <p:nvGrpSpPr>
          <p:cNvPr id="21" name="references"/>
          <p:cNvGrpSpPr/>
          <p:nvPr/>
        </p:nvGrpSpPr>
        <p:grpSpPr>
          <a:xfrm>
            <a:off x="451866" y="6283325"/>
            <a:ext cx="7025394" cy="205359"/>
            <a:chOff x="451866" y="6283325"/>
            <a:chExt cx="7025394" cy="205359"/>
          </a:xfrm>
        </p:grpSpPr>
        <p:sp>
          <p:nvSpPr>
            <p:cNvPr id="20" name="TextBox 20"/>
            <p:cNvSpPr txBox="1"/>
            <p:nvPr/>
          </p:nvSpPr>
          <p:spPr>
            <a:xfrm>
              <a:off x="451866" y="6283325"/>
              <a:ext cx="70253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[1] Chattopadhyay et al., RobustNav, ICCV 2021. [2] Tobin et al., Domain Randomization, IROS 2017.</a:t>
              </a:r>
            </a:p>
          </p:txBody>
        </p:sp>
      </p:grpSp>
      <p:grpSp>
        <p:nvGrpSpPr>
          <p:cNvPr id="25" name="page-footer"/>
          <p:cNvGrpSpPr/>
          <p:nvPr/>
        </p:nvGrpSpPr>
        <p:grpSpPr>
          <a:xfrm>
            <a:off x="451866" y="6477000"/>
            <a:ext cx="11288268" cy="297434"/>
            <a:chOff x="451866" y="6477000"/>
            <a:chExt cx="11288268" cy="297434"/>
          </a:xfrm>
        </p:grpSpPr>
        <p:sp>
          <p:nvSpPr>
            <p:cNvPr id="22" name="Line 22"/>
            <p:cNvSpPr/>
            <p:nvPr/>
          </p:nvSpPr>
          <p:spPr>
            <a:xfrm>
              <a:off x="457200" y="6477000"/>
              <a:ext cx="11277600" cy="9525"/>
            </a:xfrm>
            <a:custGeom>
              <a:avLst/>
              <a:gdLst/>
              <a:ahLst/>
              <a:cxnLst/>
              <a:rect l="l" t="t" r="r" b="b"/>
              <a:pathLst>
                <a:path w="11277600" h="9525">
                  <a:moveTo>
                    <a:pt x="0" y="0"/>
                  </a:moveTo>
                  <a:lnTo>
                    <a:pt x="11277600" y="0"/>
                  </a:lnTo>
                </a:path>
              </a:pathLst>
            </a:custGeom>
            <a:noFill/>
            <a:ln w="14288">
              <a:solidFill>
                <a:schemeClr val="accent6"/>
              </a:solidFill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451866" y="6569075"/>
              <a:ext cx="268177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Motion2RGB / VR 课程开题 / 2026.10.15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1255940" y="6569075"/>
              <a:ext cx="4841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02 / 07</a:t>
              </a:r>
            </a:p>
          </p:txBody>
        </p:sp>
      </p:grpSp>
      <p:pic>
        <p:nvPicPr>
          <p:cNvPr id="27" name="图片 26">
            <a:extLst>
              <a:ext uri="{FF2B5EF4-FFF2-40B4-BE49-F238E27FC236}">
                <a16:creationId xmlns:a16="http://schemas.microsoft.com/office/drawing/2014/main" id="{A4A6C0B5-7BF3-C35A-ACC2-B4D196A7C14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968654"/>
            <a:ext cx="2823117" cy="1882078"/>
          </a:xfrm>
          <a:prstGeom prst="rect">
            <a:avLst/>
          </a:prstGeom>
        </p:spPr>
      </p:pic>
      <p:pic>
        <p:nvPicPr>
          <p:cNvPr id="29" name="图片 28">
            <a:extLst>
              <a:ext uri="{FF2B5EF4-FFF2-40B4-BE49-F238E27FC236}">
                <a16:creationId xmlns:a16="http://schemas.microsoft.com/office/drawing/2014/main" id="{2338CF6F-A27D-4BF5-286F-D2AD222AACC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80317" y="2965954"/>
            <a:ext cx="2823117" cy="1882078"/>
          </a:xfrm>
          <a:prstGeom prst="rect">
            <a:avLst/>
          </a:prstGeom>
        </p:spPr>
      </p:pic>
      <p:pic>
        <p:nvPicPr>
          <p:cNvPr id="31" name="图片 30">
            <a:extLst>
              <a:ext uri="{FF2B5EF4-FFF2-40B4-BE49-F238E27FC236}">
                <a16:creationId xmlns:a16="http://schemas.microsoft.com/office/drawing/2014/main" id="{BBEEB88A-A8CB-1623-91BC-3568C7FA510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98734" y="2919074"/>
            <a:ext cx="2568033" cy="1926025"/>
          </a:xfrm>
          <a:prstGeom prst="rect">
            <a:avLst/>
          </a:prstGeom>
        </p:spPr>
      </p:pic>
      <p:pic>
        <p:nvPicPr>
          <p:cNvPr id="33" name="图片 32">
            <a:extLst>
              <a:ext uri="{FF2B5EF4-FFF2-40B4-BE49-F238E27FC236}">
                <a16:creationId xmlns:a16="http://schemas.microsoft.com/office/drawing/2014/main" id="{318B8291-43BC-9223-6BDB-D77C0D1C072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66767" y="2919074"/>
            <a:ext cx="2568033" cy="1926025"/>
          </a:xfrm>
          <a:prstGeom prst="rect">
            <a:avLst/>
          </a:prstGeom>
        </p:spPr>
      </p:pic>
      <p:sp>
        <p:nvSpPr>
          <p:cNvPr id="35" name="TextBox 6">
            <a:extLst>
              <a:ext uri="{FF2B5EF4-FFF2-40B4-BE49-F238E27FC236}">
                <a16:creationId xmlns:a16="http://schemas.microsoft.com/office/drawing/2014/main" id="{F23F2527-F9BC-D928-C20E-E20653E1B988}"/>
              </a:ext>
            </a:extLst>
          </p:cNvPr>
          <p:cNvSpPr txBox="1"/>
          <p:nvPr/>
        </p:nvSpPr>
        <p:spPr>
          <a:xfrm>
            <a:off x="2227145" y="4908032"/>
            <a:ext cx="1812997" cy="35663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>
              <a:lnSpc>
                <a:spcPts val="3150"/>
              </a:lnSpc>
            </a:pPr>
            <a:r>
              <a:rPr lang="en-US" altLang="zh-CN" sz="1600" dirty="0">
                <a:solidFill>
                  <a:schemeClr val="dk1"/>
                </a:solidFill>
                <a:latin typeface="+mn-ea"/>
                <a:cs typeface="+mn-cs"/>
              </a:rPr>
              <a:t>Habitat </a:t>
            </a:r>
            <a:r>
              <a:rPr lang="zh-CN" altLang="en-US" sz="1600" dirty="0">
                <a:solidFill>
                  <a:schemeClr val="dk1"/>
                </a:solidFill>
                <a:latin typeface="+mn-ea"/>
                <a:cs typeface="+mn-cs"/>
              </a:rPr>
              <a:t>仿真器采集</a:t>
            </a:r>
            <a:endParaRPr lang="zh-CN" sz="1600" dirty="0">
              <a:solidFill>
                <a:schemeClr val="dk1"/>
              </a:solidFill>
              <a:latin typeface="+mn-ea"/>
              <a:cs typeface="+mn-cs"/>
            </a:endParaRPr>
          </a:p>
        </p:txBody>
      </p:sp>
      <p:sp>
        <p:nvSpPr>
          <p:cNvPr id="39" name="TextBox 6">
            <a:extLst>
              <a:ext uri="{FF2B5EF4-FFF2-40B4-BE49-F238E27FC236}">
                <a16:creationId xmlns:a16="http://schemas.microsoft.com/office/drawing/2014/main" id="{9D05E7C1-5EF0-B4CA-849B-4E338DE115C0}"/>
              </a:ext>
            </a:extLst>
          </p:cNvPr>
          <p:cNvSpPr txBox="1"/>
          <p:nvPr/>
        </p:nvSpPr>
        <p:spPr>
          <a:xfrm>
            <a:off x="8174636" y="4908032"/>
            <a:ext cx="1869101" cy="35663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>
              <a:lnSpc>
                <a:spcPts val="3150"/>
              </a:lnSpc>
            </a:pPr>
            <a:r>
              <a:rPr lang="zh-CN" altLang="en-US" sz="1600" dirty="0">
                <a:solidFill>
                  <a:schemeClr val="dk1"/>
                </a:solidFill>
                <a:latin typeface="+mn-ea"/>
                <a:cs typeface="+mn-cs"/>
              </a:rPr>
              <a:t>真实机器人相机采集</a:t>
            </a:r>
            <a:endParaRPr lang="zh-CN" sz="1600" dirty="0">
              <a:solidFill>
                <a:schemeClr val="dk1"/>
              </a:solidFill>
              <a:latin typeface="+mn-ea"/>
              <a:cs typeface="+mn-c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page-title"/>
          <p:cNvGrpSpPr/>
          <p:nvPr/>
        </p:nvGrpSpPr>
        <p:grpSpPr>
          <a:xfrm>
            <a:off x="441960" y="479425"/>
            <a:ext cx="2244344" cy="859282"/>
            <a:chOff x="441960" y="479425"/>
            <a:chExt cx="2244344" cy="859282"/>
          </a:xfrm>
        </p:grpSpPr>
        <p:sp>
          <p:nvSpPr>
            <p:cNvPr id="2" name="TextBox 2"/>
            <p:cNvSpPr txBox="1"/>
            <p:nvPr/>
          </p:nvSpPr>
          <p:spPr>
            <a:xfrm>
              <a:off x="441960" y="479425"/>
              <a:ext cx="1645920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问题建模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467868" y="1016000"/>
              <a:ext cx="221843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Problem Formulation</a:t>
              </a:r>
            </a:p>
          </p:txBody>
        </p:sp>
      </p:grpSp>
      <p:grpSp>
        <p:nvGrpSpPr>
          <p:cNvPr id="24" name="causal-chain"/>
          <p:cNvGrpSpPr/>
          <p:nvPr/>
        </p:nvGrpSpPr>
        <p:grpSpPr>
          <a:xfrm>
            <a:off x="457200" y="2171700"/>
            <a:ext cx="11258550" cy="1562100"/>
            <a:chOff x="457200" y="2171700"/>
            <a:chExt cx="11258550" cy="1562100"/>
          </a:xfrm>
        </p:grpSpPr>
        <p:sp>
          <p:nvSpPr>
            <p:cNvPr id="5" name="Rectangle 5"/>
            <p:cNvSpPr/>
            <p:nvPr/>
          </p:nvSpPr>
          <p:spPr>
            <a:xfrm>
              <a:off x="457200" y="2171700"/>
              <a:ext cx="2514600" cy="15621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636270" y="2339975"/>
              <a:ext cx="1234440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运动状态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39318" y="2816225"/>
              <a:ext cx="143054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Motion State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639318" y="3359150"/>
              <a:ext cx="176043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速度 v / 角速度 ω</a:t>
              </a:r>
            </a:p>
          </p:txBody>
        </p:sp>
        <p:sp>
          <p:nvSpPr>
            <p:cNvPr id="9" name="Line 9"/>
            <p:cNvSpPr/>
            <p:nvPr/>
          </p:nvSpPr>
          <p:spPr>
            <a:xfrm>
              <a:off x="3028950" y="2952750"/>
              <a:ext cx="276225" cy="1"/>
            </a:xfrm>
            <a:prstGeom prst="line">
              <a:avLst/>
            </a:prstGeom>
            <a:noFill/>
            <a:ln w="28575">
              <a:solidFill>
                <a:schemeClr val="accent2"/>
              </a:solidFill>
              <a:tailEnd type="triangle" w="lg" len="lg"/>
            </a:ln>
          </p:spPr>
        </p:sp>
        <p:sp>
          <p:nvSpPr>
            <p:cNvPr id="10" name="Rectangle 10"/>
            <p:cNvSpPr/>
            <p:nvPr/>
          </p:nvSpPr>
          <p:spPr>
            <a:xfrm>
              <a:off x="3371850" y="2171700"/>
              <a:ext cx="2514600" cy="15621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3550920" y="2339975"/>
              <a:ext cx="1234440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相机运动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3553968" y="2816225"/>
              <a:ext cx="159750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Camera Motion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3553968" y="3359150"/>
              <a:ext cx="186038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步态 / 转向 / 跳跃</a:t>
              </a:r>
            </a:p>
          </p:txBody>
        </p:sp>
        <p:sp>
          <p:nvSpPr>
            <p:cNvPr id="14" name="Line 14"/>
            <p:cNvSpPr/>
            <p:nvPr/>
          </p:nvSpPr>
          <p:spPr>
            <a:xfrm>
              <a:off x="5943600" y="2952750"/>
              <a:ext cx="276225" cy="1"/>
            </a:xfrm>
            <a:prstGeom prst="line">
              <a:avLst/>
            </a:prstGeom>
            <a:noFill/>
            <a:ln w="28575">
              <a:solidFill>
                <a:schemeClr val="accent2"/>
              </a:solidFill>
              <a:tailEnd type="triangle" w="lg" len="lg"/>
            </a:ln>
          </p:spPr>
        </p:sp>
        <p:sp>
          <p:nvSpPr>
            <p:cNvPr id="15" name="Rectangle 15"/>
            <p:cNvSpPr/>
            <p:nvPr/>
          </p:nvSpPr>
          <p:spPr>
            <a:xfrm>
              <a:off x="6286500" y="2171700"/>
              <a:ext cx="2514600" cy="1562100"/>
            </a:xfrm>
            <a:prstGeom prst="rect">
              <a:avLst/>
            </a:prstGeom>
            <a:solidFill>
              <a:srgbClr val="E7F3F6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6465570" y="2339975"/>
              <a:ext cx="1234440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视觉退化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6468618" y="2816225"/>
              <a:ext cx="200682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Visual Degradation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6468618" y="3359150"/>
              <a:ext cx="182706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重投影 / 加权采样</a:t>
              </a:r>
            </a:p>
          </p:txBody>
        </p:sp>
        <p:sp>
          <p:nvSpPr>
            <p:cNvPr id="19" name="Line 19"/>
            <p:cNvSpPr/>
            <p:nvPr/>
          </p:nvSpPr>
          <p:spPr>
            <a:xfrm>
              <a:off x="8858250" y="2952750"/>
              <a:ext cx="276225" cy="1"/>
            </a:xfrm>
            <a:prstGeom prst="line">
              <a:avLst/>
            </a:prstGeom>
            <a:noFill/>
            <a:ln w="28575">
              <a:solidFill>
                <a:schemeClr val="accent2"/>
              </a:solidFill>
              <a:tailEnd type="triangle" w="lg" len="lg"/>
            </a:ln>
          </p:spPr>
        </p:sp>
        <p:sp>
          <p:nvSpPr>
            <p:cNvPr id="20" name="Rectangle 20"/>
            <p:cNvSpPr/>
            <p:nvPr/>
          </p:nvSpPr>
          <p:spPr>
            <a:xfrm>
              <a:off x="9201150" y="2171700"/>
              <a:ext cx="2514600" cy="15621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9380220" y="2339975"/>
              <a:ext cx="1283932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RGB 观测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9383268" y="2816225"/>
              <a:ext cx="181120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RGB Observation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9383268" y="3359150"/>
              <a:ext cx="182042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Clean / Degraded</a:t>
              </a:r>
            </a:p>
          </p:txBody>
        </p:sp>
      </p:grpSp>
      <p:grpSp>
        <p:nvGrpSpPr>
          <p:cNvPr id="27" name="gait-relation"/>
          <p:cNvGrpSpPr/>
          <p:nvPr/>
        </p:nvGrpSpPr>
        <p:grpSpPr>
          <a:xfrm>
            <a:off x="445770" y="4425950"/>
            <a:ext cx="3222498" cy="1233043"/>
            <a:chOff x="445770" y="4425950"/>
            <a:chExt cx="3222498" cy="1233043"/>
          </a:xfrm>
        </p:grpSpPr>
        <p:sp>
          <p:nvSpPr>
            <p:cNvPr id="25" name="TextBox 25"/>
            <p:cNvSpPr txBox="1"/>
            <p:nvPr/>
          </p:nvSpPr>
          <p:spPr>
            <a:xfrm>
              <a:off x="445770" y="4425950"/>
              <a:ext cx="2748915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速度与步幅决定步频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446532" y="4848225"/>
              <a:ext cx="3221736" cy="81076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3150"/>
                </a:lnSpc>
              </a:pPr>
              <a:r>
                <a:rPr lang="zh-CN" sz="21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共享步态相位产生头部扰动</a:t>
              </a:r>
              <a:br>
                <a:rPr lang="zh-CN" sz="21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</a:br>
              <a:r>
                <a:rPr lang="zh-CN" sz="21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左右完整周期包含两步</a:t>
              </a:r>
            </a:p>
          </p:txBody>
        </p:sp>
      </p:grpSp>
      <p:grpSp>
        <p:nvGrpSpPr>
          <p:cNvPr id="30" name="image-motion-relation"/>
          <p:cNvGrpSpPr/>
          <p:nvPr/>
        </p:nvGrpSpPr>
        <p:grpSpPr>
          <a:xfrm>
            <a:off x="6294120" y="4425950"/>
            <a:ext cx="3755898" cy="1233043"/>
            <a:chOff x="6294120" y="4425950"/>
            <a:chExt cx="3755898" cy="1233043"/>
          </a:xfrm>
        </p:grpSpPr>
        <p:sp>
          <p:nvSpPr>
            <p:cNvPr id="28" name="TextBox 28"/>
            <p:cNvSpPr txBox="1"/>
            <p:nvPr/>
          </p:nvSpPr>
          <p:spPr>
            <a:xfrm>
              <a:off x="6294120" y="4425950"/>
              <a:ext cx="3657600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相机位姿变化决定屏幕运动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6294882" y="4848225"/>
              <a:ext cx="3755136" cy="81076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3150"/>
                </a:lnSpc>
              </a:pPr>
              <a:r>
                <a:rPr lang="zh-CN" sz="21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深度参与每个像素的重投影</a:t>
              </a:r>
              <a:br>
                <a:rPr lang="zh-CN" sz="21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</a:br>
              <a:r>
                <a:rPr lang="zh-CN" sz="21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转向可在低平移速度下产生模糊</a:t>
              </a:r>
            </a:p>
          </p:txBody>
        </p:sp>
      </p:grpSp>
      <p:grpSp>
        <p:nvGrpSpPr>
          <p:cNvPr id="32" name="model-boundary"/>
          <p:cNvGrpSpPr/>
          <p:nvPr/>
        </p:nvGrpSpPr>
        <p:grpSpPr>
          <a:xfrm>
            <a:off x="448818" y="5978525"/>
            <a:ext cx="7004299" cy="322707"/>
            <a:chOff x="448818" y="5978525"/>
            <a:chExt cx="7004299" cy="322707"/>
          </a:xfrm>
        </p:grpSpPr>
        <p:sp>
          <p:nvSpPr>
            <p:cNvPr id="31" name="TextBox 31"/>
            <p:cNvSpPr txBox="1"/>
            <p:nvPr/>
          </p:nvSpPr>
          <p:spPr>
            <a:xfrm>
              <a:off x="448818" y="5978525"/>
              <a:ext cx="700429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Walking / Running / Turning 是状态标签；模糊由实际相机运动计算。</a:t>
              </a:r>
            </a:p>
          </p:txBody>
        </p:sp>
      </p:grpSp>
      <p:grpSp>
        <p:nvGrpSpPr>
          <p:cNvPr id="36" name="page-footer"/>
          <p:cNvGrpSpPr/>
          <p:nvPr/>
        </p:nvGrpSpPr>
        <p:grpSpPr>
          <a:xfrm>
            <a:off x="451866" y="6477000"/>
            <a:ext cx="11288268" cy="297434"/>
            <a:chOff x="451866" y="6477000"/>
            <a:chExt cx="11288268" cy="297434"/>
          </a:xfrm>
        </p:grpSpPr>
        <p:sp>
          <p:nvSpPr>
            <p:cNvPr id="33" name="Line 33"/>
            <p:cNvSpPr/>
            <p:nvPr/>
          </p:nvSpPr>
          <p:spPr>
            <a:xfrm>
              <a:off x="457200" y="6477000"/>
              <a:ext cx="11277600" cy="9525"/>
            </a:xfrm>
            <a:custGeom>
              <a:avLst/>
              <a:gdLst/>
              <a:ahLst/>
              <a:cxnLst/>
              <a:rect l="l" t="t" r="r" b="b"/>
              <a:pathLst>
                <a:path w="11277600" h="9525">
                  <a:moveTo>
                    <a:pt x="0" y="0"/>
                  </a:moveTo>
                  <a:lnTo>
                    <a:pt x="11277600" y="0"/>
                  </a:lnTo>
                </a:path>
              </a:pathLst>
            </a:custGeom>
            <a:noFill/>
            <a:ln w="14288">
              <a:solidFill>
                <a:schemeClr val="accent6"/>
              </a:solidFill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451866" y="6569075"/>
              <a:ext cx="268177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Motion2RGB / VR 课程开题 / 2026.10.15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11255940" y="6569075"/>
              <a:ext cx="4841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03 / 07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page-title"/>
          <p:cNvGrpSpPr/>
          <p:nvPr/>
        </p:nvGrpSpPr>
        <p:grpSpPr>
          <a:xfrm>
            <a:off x="441960" y="479425"/>
            <a:ext cx="6918335" cy="859282"/>
            <a:chOff x="441960" y="479425"/>
            <a:chExt cx="6918335" cy="859282"/>
          </a:xfrm>
        </p:grpSpPr>
        <p:sp>
          <p:nvSpPr>
            <p:cNvPr id="2" name="TextBox 2"/>
            <p:cNvSpPr txBox="1"/>
            <p:nvPr/>
          </p:nvSpPr>
          <p:spPr>
            <a:xfrm>
              <a:off x="441960" y="479425"/>
              <a:ext cx="1645920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系统架构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467868" y="1016000"/>
              <a:ext cx="6892427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System Overview / Unity 2022.3.62f3 · Built-in Render Pipeline</a:t>
              </a:r>
            </a:p>
          </p:txBody>
        </p:sp>
      </p:grpSp>
      <p:grpSp>
        <p:nvGrpSpPr>
          <p:cNvPr id="44" name="implementation-diagram"/>
          <p:cNvGrpSpPr/>
          <p:nvPr/>
        </p:nvGrpSpPr>
        <p:grpSpPr>
          <a:xfrm>
            <a:off x="457200" y="1720850"/>
            <a:ext cx="11277600" cy="4189857"/>
            <a:chOff x="457200" y="1720850"/>
            <a:chExt cx="11277600" cy="4189857"/>
          </a:xfrm>
        </p:grpSpPr>
        <p:sp>
          <p:nvSpPr>
            <p:cNvPr id="5" name="Rectangle 5"/>
            <p:cNvSpPr/>
            <p:nvPr/>
          </p:nvSpPr>
          <p:spPr>
            <a:xfrm>
              <a:off x="457200" y="1790700"/>
              <a:ext cx="2428875" cy="904875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617982" y="1879600"/>
              <a:ext cx="2297154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输入与 PlayerRig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20268" y="2273300"/>
              <a:ext cx="243509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FirstPersonController</a:t>
              </a:r>
            </a:p>
          </p:txBody>
        </p:sp>
        <p:sp>
          <p:nvSpPr>
            <p:cNvPr id="8" name="Line 8"/>
            <p:cNvSpPr/>
            <p:nvPr/>
          </p:nvSpPr>
          <p:spPr>
            <a:xfrm>
              <a:off x="1666875" y="2752725"/>
              <a:ext cx="1" cy="342900"/>
            </a:xfrm>
            <a:prstGeom prst="line">
              <a:avLst/>
            </a:prstGeom>
            <a:noFill/>
            <a:ln w="23812">
              <a:solidFill>
                <a:schemeClr val="accent1"/>
              </a:solidFill>
              <a:tailEnd type="triangle" w="lg" len="lg"/>
            </a:ln>
          </p:spPr>
        </p:sp>
        <p:sp>
          <p:nvSpPr>
            <p:cNvPr id="9" name="Rectangle 9"/>
            <p:cNvSpPr/>
            <p:nvPr/>
          </p:nvSpPr>
          <p:spPr>
            <a:xfrm>
              <a:off x="457200" y="3162300"/>
              <a:ext cx="2428875" cy="904875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617982" y="3251200"/>
              <a:ext cx="1152144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运动测量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620268" y="3644900"/>
              <a:ext cx="222531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MotionStateTracker</a:t>
              </a:r>
            </a:p>
          </p:txBody>
        </p:sp>
        <p:sp>
          <p:nvSpPr>
            <p:cNvPr id="12" name="Line 12"/>
            <p:cNvSpPr/>
            <p:nvPr/>
          </p:nvSpPr>
          <p:spPr>
            <a:xfrm>
              <a:off x="1666875" y="4124325"/>
              <a:ext cx="1" cy="419100"/>
            </a:xfrm>
            <a:prstGeom prst="line">
              <a:avLst/>
            </a:prstGeom>
            <a:noFill/>
            <a:ln w="23812">
              <a:solidFill>
                <a:schemeClr val="accent2"/>
              </a:solidFill>
              <a:tailEnd type="triangle" w="lg" len="lg"/>
            </a:ln>
          </p:spPr>
        </p:sp>
        <p:sp>
          <p:nvSpPr>
            <p:cNvPr id="13" name="Rectangle 13"/>
            <p:cNvSpPr/>
            <p:nvPr/>
          </p:nvSpPr>
          <p:spPr>
            <a:xfrm>
              <a:off x="457200" y="4610100"/>
              <a:ext cx="2428875" cy="904875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620268" y="4749800"/>
              <a:ext cx="183983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头部 / 机器人步态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620268" y="5092700"/>
              <a:ext cx="186872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GaitMotionDriver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3379470" y="1720850"/>
              <a:ext cx="2970034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共享 Unity 3D Scene</a:t>
              </a:r>
            </a:p>
          </p:txBody>
        </p:sp>
        <p:sp>
          <p:nvSpPr>
            <p:cNvPr id="17" name="Line 17"/>
            <p:cNvSpPr/>
            <p:nvPr/>
          </p:nvSpPr>
          <p:spPr>
            <a:xfrm>
              <a:off x="3390900" y="2190750"/>
              <a:ext cx="8343900" cy="9525"/>
            </a:xfrm>
            <a:custGeom>
              <a:avLst/>
              <a:gdLst/>
              <a:ahLst/>
              <a:cxnLst/>
              <a:rect l="l" t="t" r="r" b="b"/>
              <a:pathLst>
                <a:path w="8343900" h="9525">
                  <a:moveTo>
                    <a:pt x="0" y="0"/>
                  </a:moveTo>
                  <a:lnTo>
                    <a:pt x="8343900" y="0"/>
                  </a:lnTo>
                </a:path>
              </a:pathLst>
            </a:custGeom>
            <a:noFill/>
            <a:ln w="14288">
              <a:solidFill>
                <a:schemeClr val="accent6"/>
              </a:solidFill>
            </a:ln>
          </p:spPr>
        </p:sp>
        <p:sp>
          <p:nvSpPr>
            <p:cNvPr id="18" name="Rectangle 18"/>
            <p:cNvSpPr/>
            <p:nvPr/>
          </p:nvSpPr>
          <p:spPr>
            <a:xfrm>
              <a:off x="3390900" y="2571750"/>
              <a:ext cx="2381250" cy="904875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3551682" y="2660650"/>
              <a:ext cx="1910656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1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Clean Camera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3553968" y="3054350"/>
              <a:ext cx="134950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稳定基础位姿</a:t>
              </a:r>
            </a:p>
          </p:txBody>
        </p:sp>
        <p:sp>
          <p:nvSpPr>
            <p:cNvPr id="21" name="Line 21"/>
            <p:cNvSpPr/>
            <p:nvPr/>
          </p:nvSpPr>
          <p:spPr>
            <a:xfrm>
              <a:off x="5838825" y="3019425"/>
              <a:ext cx="371475" cy="1"/>
            </a:xfrm>
            <a:prstGeom prst="line">
              <a:avLst/>
            </a:prstGeom>
            <a:noFill/>
            <a:ln w="23812">
              <a:solidFill>
                <a:schemeClr val="accent1"/>
              </a:solidFill>
              <a:tailEnd type="triangle" w="lg" len="lg"/>
            </a:ln>
          </p:spPr>
        </p:sp>
        <p:sp>
          <p:nvSpPr>
            <p:cNvPr id="22" name="Rectangle 22"/>
            <p:cNvSpPr/>
            <p:nvPr/>
          </p:nvSpPr>
          <p:spPr>
            <a:xfrm>
              <a:off x="6286500" y="2571750"/>
              <a:ext cx="2381250" cy="904875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6447282" y="2660650"/>
              <a:ext cx="1207084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1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Clean RT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6449568" y="3054350"/>
              <a:ext cx="161877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RenderTexture</a:t>
              </a:r>
            </a:p>
          </p:txBody>
        </p:sp>
        <p:sp>
          <p:nvSpPr>
            <p:cNvPr id="25" name="Line 25"/>
            <p:cNvSpPr/>
            <p:nvPr/>
          </p:nvSpPr>
          <p:spPr>
            <a:xfrm>
              <a:off x="8734425" y="3019425"/>
              <a:ext cx="333375" cy="1"/>
            </a:xfrm>
            <a:prstGeom prst="line">
              <a:avLst/>
            </a:prstGeom>
            <a:noFill/>
            <a:ln w="23812">
              <a:solidFill>
                <a:schemeClr val="accent1"/>
              </a:solidFill>
              <a:tailEnd type="triangle" w="lg" len="lg"/>
            </a:ln>
          </p:spPr>
        </p:sp>
        <p:sp>
          <p:nvSpPr>
            <p:cNvPr id="26" name="Rectangle 26"/>
            <p:cNvSpPr/>
            <p:nvPr/>
          </p:nvSpPr>
          <p:spPr>
            <a:xfrm>
              <a:off x="9144000" y="2571750"/>
              <a:ext cx="2590800" cy="904875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9304782" y="2660650"/>
              <a:ext cx="1152144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参考视图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9307068" y="3054350"/>
              <a:ext cx="156994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UGUI RawImage</a:t>
              </a:r>
            </a:p>
          </p:txBody>
        </p:sp>
        <p:sp>
          <p:nvSpPr>
            <p:cNvPr id="29" name="Line 29"/>
            <p:cNvSpPr/>
            <p:nvPr/>
          </p:nvSpPr>
          <p:spPr>
            <a:xfrm>
              <a:off x="2952750" y="5057775"/>
              <a:ext cx="361950" cy="1"/>
            </a:xfrm>
            <a:prstGeom prst="line">
              <a:avLst/>
            </a:prstGeom>
            <a:noFill/>
            <a:ln w="23812">
              <a:solidFill>
                <a:schemeClr val="accent2"/>
              </a:solidFill>
              <a:tailEnd type="triangle" w="lg" len="lg"/>
            </a:ln>
          </p:spPr>
        </p:sp>
        <p:sp>
          <p:nvSpPr>
            <p:cNvPr id="30" name="Rectangle 30"/>
            <p:cNvSpPr/>
            <p:nvPr/>
          </p:nvSpPr>
          <p:spPr>
            <a:xfrm>
              <a:off x="3390900" y="4610100"/>
              <a:ext cx="2381250" cy="904875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3553968" y="4749800"/>
              <a:ext cx="194470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Degraded Camera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3553968" y="5092700"/>
              <a:ext cx="134950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步态扰动相机</a:t>
              </a:r>
            </a:p>
          </p:txBody>
        </p:sp>
        <p:sp>
          <p:nvSpPr>
            <p:cNvPr id="33" name="Line 33"/>
            <p:cNvSpPr/>
            <p:nvPr/>
          </p:nvSpPr>
          <p:spPr>
            <a:xfrm>
              <a:off x="5838825" y="5057775"/>
              <a:ext cx="371475" cy="1"/>
            </a:xfrm>
            <a:prstGeom prst="line">
              <a:avLst/>
            </a:prstGeom>
            <a:noFill/>
            <a:ln w="23812">
              <a:solidFill>
                <a:schemeClr val="accent2"/>
              </a:solidFill>
              <a:tailEnd type="triangle" w="lg" len="lg"/>
            </a:ln>
          </p:spPr>
        </p:sp>
        <p:sp>
          <p:nvSpPr>
            <p:cNvPr id="34" name="Rectangle 34"/>
            <p:cNvSpPr/>
            <p:nvPr/>
          </p:nvSpPr>
          <p:spPr>
            <a:xfrm>
              <a:off x="6286500" y="4610100"/>
              <a:ext cx="2381250" cy="904875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6447282" y="4699000"/>
              <a:ext cx="1481038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RGB 后处理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6449568" y="5092700"/>
              <a:ext cx="236791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DirectionalMotionBlur</a:t>
              </a:r>
            </a:p>
          </p:txBody>
        </p:sp>
        <p:sp>
          <p:nvSpPr>
            <p:cNvPr id="37" name="Line 37"/>
            <p:cNvSpPr/>
            <p:nvPr/>
          </p:nvSpPr>
          <p:spPr>
            <a:xfrm>
              <a:off x="8734425" y="5057775"/>
              <a:ext cx="333375" cy="1"/>
            </a:xfrm>
            <a:prstGeom prst="line">
              <a:avLst/>
            </a:prstGeom>
            <a:noFill/>
            <a:ln w="23812">
              <a:solidFill>
                <a:schemeClr val="accent2"/>
              </a:solidFill>
              <a:tailEnd type="triangle" w="lg" len="lg"/>
            </a:ln>
          </p:spPr>
        </p:sp>
        <p:sp>
          <p:nvSpPr>
            <p:cNvPr id="38" name="Rectangle 38"/>
            <p:cNvSpPr/>
            <p:nvPr/>
          </p:nvSpPr>
          <p:spPr>
            <a:xfrm>
              <a:off x="9144000" y="4610100"/>
              <a:ext cx="2590800" cy="904875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9307068" y="4749800"/>
              <a:ext cx="153365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退化 RT / 视图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9307068" y="5092700"/>
              <a:ext cx="156994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UGUI RawImage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6287643" y="3930650"/>
              <a:ext cx="335263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OnRenderImage + Graphics.Blit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9880854" y="3945510"/>
              <a:ext cx="134950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并排实时显示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3382518" y="5588000"/>
              <a:ext cx="470454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Same Pose：复制 Clean 位姿，仅比较图像退化</a:t>
              </a:r>
            </a:p>
          </p:txBody>
        </p:sp>
      </p:grpSp>
      <p:grpSp>
        <p:nvGrpSpPr>
          <p:cNvPr id="46" name="system-status"/>
          <p:cNvGrpSpPr/>
          <p:nvPr/>
        </p:nvGrpSpPr>
        <p:grpSpPr>
          <a:xfrm>
            <a:off x="448818" y="6064250"/>
            <a:ext cx="9575291" cy="322707"/>
            <a:chOff x="448818" y="6064250"/>
            <a:chExt cx="9575291" cy="322707"/>
          </a:xfrm>
        </p:grpSpPr>
        <p:sp>
          <p:nvSpPr>
            <p:cNvPr id="45" name="TextBox 45"/>
            <p:cNvSpPr txBox="1"/>
            <p:nvPr/>
          </p:nvSpPr>
          <p:spPr>
            <a:xfrm>
              <a:off x="448818" y="6064250"/>
              <a:ext cx="957529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当前代码与场景已接入上述链路；UI 可调速度、步幅、扰动幅度、模糊强度与 Exposure Proxy。</a:t>
              </a:r>
            </a:p>
          </p:txBody>
        </p:sp>
      </p:grpSp>
      <p:grpSp>
        <p:nvGrpSpPr>
          <p:cNvPr id="50" name="page-footer"/>
          <p:cNvGrpSpPr/>
          <p:nvPr/>
        </p:nvGrpSpPr>
        <p:grpSpPr>
          <a:xfrm>
            <a:off x="451866" y="6477000"/>
            <a:ext cx="11288268" cy="297434"/>
            <a:chOff x="451866" y="6477000"/>
            <a:chExt cx="11288268" cy="297434"/>
          </a:xfrm>
        </p:grpSpPr>
        <p:sp>
          <p:nvSpPr>
            <p:cNvPr id="47" name="Line 47"/>
            <p:cNvSpPr/>
            <p:nvPr/>
          </p:nvSpPr>
          <p:spPr>
            <a:xfrm>
              <a:off x="457200" y="6477000"/>
              <a:ext cx="11277600" cy="9525"/>
            </a:xfrm>
            <a:custGeom>
              <a:avLst/>
              <a:gdLst/>
              <a:ahLst/>
              <a:cxnLst/>
              <a:rect l="l" t="t" r="r" b="b"/>
              <a:pathLst>
                <a:path w="11277600" h="9525">
                  <a:moveTo>
                    <a:pt x="0" y="0"/>
                  </a:moveTo>
                  <a:lnTo>
                    <a:pt x="11277600" y="0"/>
                  </a:lnTo>
                </a:path>
              </a:pathLst>
            </a:custGeom>
            <a:noFill/>
            <a:ln w="14288">
              <a:solidFill>
                <a:schemeClr val="accent6"/>
              </a:solidFill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451866" y="6569075"/>
              <a:ext cx="268177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Motion2RGB / VR 课程开题 / 2026.10.15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11255940" y="6569075"/>
              <a:ext cx="4841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04 / 07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page-title"/>
          <p:cNvGrpSpPr/>
          <p:nvPr/>
        </p:nvGrpSpPr>
        <p:grpSpPr>
          <a:xfrm>
            <a:off x="441960" y="479425"/>
            <a:ext cx="5551833" cy="859282"/>
            <a:chOff x="441960" y="479425"/>
            <a:chExt cx="5551833" cy="859282"/>
          </a:xfrm>
        </p:grpSpPr>
        <p:sp>
          <p:nvSpPr>
            <p:cNvPr id="2" name="TextBox 2"/>
            <p:cNvSpPr txBox="1"/>
            <p:nvPr/>
          </p:nvSpPr>
          <p:spPr>
            <a:xfrm>
              <a:off x="441960" y="479425"/>
              <a:ext cx="1645920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技术方法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467868" y="1016000"/>
              <a:ext cx="552592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Technical Method / Gait phase + depth reprojection</a:t>
              </a:r>
            </a:p>
          </p:txBody>
        </p:sp>
      </p:grpSp>
      <p:grpSp>
        <p:nvGrpSpPr>
          <p:cNvPr id="9" name="gait-method"/>
          <p:cNvGrpSpPr/>
          <p:nvPr/>
        </p:nvGrpSpPr>
        <p:grpSpPr>
          <a:xfrm>
            <a:off x="445770" y="1692275"/>
            <a:ext cx="4964430" cy="2557907"/>
            <a:chOff x="445770" y="1692275"/>
            <a:chExt cx="4964430" cy="2557907"/>
          </a:xfrm>
        </p:grpSpPr>
        <p:sp>
          <p:nvSpPr>
            <p:cNvPr id="5" name="TextBox 5"/>
            <p:cNvSpPr txBox="1"/>
            <p:nvPr/>
          </p:nvSpPr>
          <p:spPr>
            <a:xfrm>
              <a:off x="445770" y="1692275"/>
              <a:ext cx="2285486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01 共享步态时钟</a:t>
              </a:r>
            </a:p>
          </p:txBody>
        </p:sp>
        <p:sp>
          <p:nvSpPr>
            <p:cNvPr id="6" name="gait-clock"/>
            <p:cNvSpPr txBox="1">
              <a:spLocks noGrp="1"/>
            </p:cNvSpPr>
            <p:nvPr/>
          </p:nvSpPr>
          <p:spPr>
            <a:xfrm>
              <a:off x="457200" y="2190750"/>
              <a:ext cx="4953000" cy="6381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ctr">
              <a:normAutofit/>
            </a:bodyPr>
            <a:lstStyle/>
            <a:p>
              <a:pPr algn="l"/>
              <a14:m xmlns:a14="http://schemas.microsoft.com/office/drawing/2010/main">
                <m:oMathPara xmlns:m="http://schemas.openxmlformats.org/officeDocument/2006/math">
                  <m:oMathParaPr>
                    <m:jc m:val="left"/>
                  </m:oMathParaPr>
                  <m:oMath>
                    <m:r>
                      <a:rPr lang="zh-CN" sz="2100" dirty="0">
                        <a:solidFill>
                          <a:srgbClr val="123D64"/>
                        </a:solidFill>
                        <a:latin typeface="Cambria Math"/>
                        <a:ea typeface="Cambria Math"/>
                        <a:cs typeface="Cambria Math"/>
                      </a:rPr>
                      <m:t>𝑓</m:t>
                    </m:r>
                    <m:r>
                      <a:rPr lang="zh-CN" sz="2100" dirty="0">
                        <a:solidFill>
                          <a:srgbClr val="123D64"/>
                        </a:solidFill>
                        <a:latin typeface="Cambria Math"/>
                        <a:ea typeface="Cambria Math"/>
                        <a:cs typeface="Cambria Math"/>
                      </a:rPr>
                      <m:t>=</m:t>
                    </m:r>
                    <m:f>
                      <m:fPr>
                        <m:ctrlPr>
                          <a:rPr lang="zh-CN" sz="2100" dirty="0">
                            <a:solidFill>
                              <a:srgbClr val="123D64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</m:ctrlPr>
                      </m:fPr>
                      <m:num>
                        <m:r>
                          <a:rPr lang="zh-CN" sz="2100" dirty="0">
                            <a:solidFill>
                              <a:srgbClr val="123D64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𝑣</m:t>
                        </m:r>
                      </m:num>
                      <m:den>
                        <m:r>
                          <a:rPr lang="zh-CN" sz="2100" dirty="0">
                            <a:solidFill>
                              <a:srgbClr val="123D64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𝐿</m:t>
                        </m:r>
                      </m:den>
                    </m:f>
                    <m:r>
                      <a:rPr lang="zh-CN" sz="2100" dirty="0">
                        <a:solidFill>
                          <a:srgbClr val="123D64"/>
                        </a:solidFill>
                        <a:latin typeface="Cambria Math"/>
                        <a:ea typeface="Cambria Math"/>
                        <a:cs typeface="Cambria Math"/>
                      </a:rPr>
                      <m:t>, </m:t>
                    </m:r>
                    <m:sSub>
                      <m:sSubPr>
                        <m:ctrlPr>
                          <a:rPr lang="zh-CN" sz="2100" dirty="0">
                            <a:solidFill>
                              <a:srgbClr val="123D64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</m:ctrlPr>
                      </m:sSubPr>
                      <m:e>
                        <m:r>
                          <a:rPr lang="zh-CN" sz="2100" dirty="0">
                            <a:solidFill>
                              <a:srgbClr val="123D64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𝜙</m:t>
                        </m:r>
                      </m:e>
                      <m:sub>
                        <m:r>
                          <a:rPr lang="zh-CN" sz="2100" dirty="0">
                            <a:solidFill>
                              <a:srgbClr val="123D64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𝑡</m:t>
                        </m:r>
                        <m:r>
                          <a:rPr lang="zh-CN" sz="2100" dirty="0">
                            <a:solidFill>
                              <a:srgbClr val="123D64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+1</m:t>
                        </m:r>
                      </m:sub>
                    </m:sSub>
                    <m:r>
                      <a:rPr lang="zh-CN" sz="2100" dirty="0">
                        <a:solidFill>
                          <a:srgbClr val="123D64"/>
                        </a:solidFill>
                        <a:latin typeface="Cambria Math"/>
                        <a:ea typeface="Cambria Math"/>
                        <a:cs typeface="Cambria Math"/>
                      </a:rPr>
                      <m:t>=</m:t>
                    </m:r>
                    <m:sSub>
                      <m:sSubPr>
                        <m:ctrlPr>
                          <a:rPr lang="zh-CN" sz="2100" dirty="0">
                            <a:solidFill>
                              <a:srgbClr val="123D64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</m:ctrlPr>
                      </m:sSubPr>
                      <m:e>
                        <m:r>
                          <a:rPr lang="zh-CN" sz="2100" dirty="0">
                            <a:solidFill>
                              <a:srgbClr val="123D64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𝜙</m:t>
                        </m:r>
                      </m:e>
                      <m:sub>
                        <m:r>
                          <a:rPr lang="zh-CN" sz="2100" dirty="0">
                            <a:solidFill>
                              <a:srgbClr val="123D64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𝑡</m:t>
                        </m:r>
                      </m:sub>
                    </m:sSub>
                    <m:r>
                      <a:rPr lang="zh-CN" sz="2100" dirty="0">
                        <a:solidFill>
                          <a:srgbClr val="123D64"/>
                        </a:solidFill>
                        <a:latin typeface="Cambria Math"/>
                        <a:ea typeface="Cambria Math"/>
                        <a:cs typeface="Cambria Math"/>
                      </a:rPr>
                      <m:t>+</m:t>
                    </m:r>
                    <m:r>
                      <a:rPr lang="zh-CN" sz="2100" dirty="0">
                        <a:solidFill>
                          <a:srgbClr val="123D64"/>
                        </a:solidFill>
                        <a:latin typeface="Cambria Math"/>
                        <a:ea typeface="Cambria Math"/>
                        <a:cs typeface="Cambria Math"/>
                      </a:rPr>
                      <m:t>𝜋</m:t>
                    </m:r>
                    <m:r>
                      <a:rPr lang="zh-CN" sz="2100" dirty="0">
                        <a:solidFill>
                          <a:srgbClr val="123D64"/>
                        </a:solidFill>
                        <a:latin typeface="Cambria Math"/>
                        <a:ea typeface="Cambria Math"/>
                        <a:cs typeface="Cambria Math"/>
                      </a:rPr>
                      <m:t>𝑓</m:t>
                    </m:r>
                    <m:r>
                      <m:rPr>
                        <m:sty m:val="p"/>
                      </m:rPr>
                      <a:rPr lang="zh-CN" sz="2100" dirty="0">
                        <a:solidFill>
                          <a:srgbClr val="123D64"/>
                        </a:solidFill>
                        <a:latin typeface="Cambria Math"/>
                        <a:ea typeface="Cambria Math"/>
                        <a:cs typeface="Cambria Math"/>
                      </a:rPr>
                      <m:t>Δ</m:t>
                    </m:r>
                    <m:r>
                      <a:rPr lang="zh-CN" sz="2100" dirty="0">
                        <a:solidFill>
                          <a:srgbClr val="123D64"/>
                        </a:solidFill>
                        <a:latin typeface="Cambria Math"/>
                        <a:ea typeface="Cambria Math"/>
                        <a:cs typeface="Cambria Math"/>
                      </a:rPr>
                      <m:t>𝑡</m:t>
                    </m:r>
                  </m:oMath>
                </m:oMathPara>
              </a14:m>
              <a:endParaRPr/>
            </a:p>
          </p:txBody>
        </p:sp>
        <p:sp>
          <p:nvSpPr>
            <p:cNvPr id="7" name="gait-offset"/>
            <p:cNvSpPr txBox="1">
              <a:spLocks noGrp="1"/>
            </p:cNvSpPr>
            <p:nvPr/>
          </p:nvSpPr>
          <p:spPr>
            <a:xfrm>
              <a:off x="457200" y="2924175"/>
              <a:ext cx="4953000" cy="514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ctr">
              <a:normAutofit/>
            </a:bodyPr>
            <a:lstStyle/>
            <a:p>
              <a:pPr algn="l"/>
              <a14:m xmlns:a14="http://schemas.microsoft.com/office/drawing/2010/main">
                <m:oMathPara xmlns:m="http://schemas.openxmlformats.org/officeDocument/2006/math">
                  <m:oMathParaPr>
                    <m:jc m:val="left"/>
                  </m:oMathParaPr>
                  <m:oMath>
                    <m:r>
                      <a:rPr lang="zh-CN" sz="2100" dirty="0">
                        <a:solidFill>
                          <a:srgbClr val="123D64"/>
                        </a:solidFill>
                        <a:latin typeface="Cambria Math"/>
                        <a:ea typeface="Cambria Math"/>
                        <a:cs typeface="Cambria Math"/>
                      </a:rPr>
                      <m:t>𝑥</m:t>
                    </m:r>
                    <m:r>
                      <a:rPr lang="zh-CN" sz="2100" dirty="0">
                        <a:solidFill>
                          <a:srgbClr val="123D64"/>
                        </a:solidFill>
                        <a:latin typeface="Cambria Math"/>
                        <a:ea typeface="Cambria Math"/>
                        <a:cs typeface="Cambria Math"/>
                      </a:rPr>
                      <m:t>=</m:t>
                    </m:r>
                    <m:sSub>
                      <m:sSubPr>
                        <m:ctrlPr>
                          <a:rPr lang="zh-CN" sz="2100" dirty="0">
                            <a:solidFill>
                              <a:srgbClr val="123D64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</m:ctrlPr>
                      </m:sSubPr>
                      <m:e>
                        <m:r>
                          <a:rPr lang="zh-CN" sz="2100" dirty="0">
                            <a:solidFill>
                              <a:srgbClr val="123D64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𝐴</m:t>
                        </m:r>
                      </m:e>
                      <m:sub>
                        <m:r>
                          <a:rPr lang="zh-CN" sz="2100" dirty="0">
                            <a:solidFill>
                              <a:srgbClr val="123D64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𝑥</m:t>
                        </m:r>
                      </m:sub>
                    </m:sSub>
                    <m:func>
                      <m:funcPr>
                        <m:ctrlPr>
                          <a:rPr lang="zh-CN" sz="2100" dirty="0">
                            <a:solidFill>
                              <a:srgbClr val="123D64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zh-CN" sz="2100" dirty="0">
                            <a:solidFill>
                              <a:srgbClr val="123D64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cos</m:t>
                        </m:r>
                      </m:fName>
                      <m:e>
                        <m:r>
                          <a:rPr lang="zh-CN" sz="2100" dirty="0">
                            <a:solidFill>
                              <a:srgbClr val="123D64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𝜙</m:t>
                        </m:r>
                      </m:e>
                    </m:func>
                    <m:r>
                      <a:rPr lang="zh-CN" sz="2100" dirty="0">
                        <a:solidFill>
                          <a:srgbClr val="123D64"/>
                        </a:solidFill>
                        <a:latin typeface="Cambria Math"/>
                        <a:ea typeface="Cambria Math"/>
                        <a:cs typeface="Cambria Math"/>
                      </a:rPr>
                      <m:t>, </m:t>
                    </m:r>
                    <m:r>
                      <a:rPr lang="zh-CN" sz="2100" dirty="0">
                        <a:solidFill>
                          <a:srgbClr val="123D64"/>
                        </a:solidFill>
                        <a:latin typeface="Cambria Math"/>
                        <a:ea typeface="Cambria Math"/>
                        <a:cs typeface="Cambria Math"/>
                      </a:rPr>
                      <m:t>𝑦</m:t>
                    </m:r>
                    <m:r>
                      <a:rPr lang="zh-CN" sz="2100" dirty="0">
                        <a:solidFill>
                          <a:srgbClr val="123D64"/>
                        </a:solidFill>
                        <a:latin typeface="Cambria Math"/>
                        <a:ea typeface="Cambria Math"/>
                        <a:cs typeface="Cambria Math"/>
                      </a:rPr>
                      <m:t>=−</m:t>
                    </m:r>
                    <m:sSub>
                      <m:sSubPr>
                        <m:ctrlPr>
                          <a:rPr lang="zh-CN" sz="2100" dirty="0">
                            <a:solidFill>
                              <a:srgbClr val="123D64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</m:ctrlPr>
                      </m:sSubPr>
                      <m:e>
                        <m:r>
                          <a:rPr lang="zh-CN" sz="2100" dirty="0">
                            <a:solidFill>
                              <a:srgbClr val="123D64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𝐴</m:t>
                        </m:r>
                      </m:e>
                      <m:sub>
                        <m:r>
                          <a:rPr lang="zh-CN" sz="2100" dirty="0">
                            <a:solidFill>
                              <a:srgbClr val="123D64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𝑦</m:t>
                        </m:r>
                      </m:sub>
                    </m:sSub>
                    <m:func>
                      <m:funcPr>
                        <m:ctrlPr>
                          <a:rPr lang="zh-CN" sz="2100" dirty="0">
                            <a:solidFill>
                              <a:srgbClr val="123D64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zh-CN" sz="2100" dirty="0">
                            <a:solidFill>
                              <a:srgbClr val="123D64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cos</m:t>
                        </m:r>
                      </m:fName>
                      <m:e>
                        <m:d>
                          <m:dPr>
                            <m:ctrlPr>
                              <a:rPr lang="zh-CN" sz="2100" dirty="0">
                                <a:solidFill>
                                  <a:srgbClr val="123D64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r>
                              <a:rPr lang="zh-CN" sz="2100" dirty="0">
                                <a:solidFill>
                                  <a:srgbClr val="123D64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2</m:t>
                            </m:r>
                            <m:r>
                              <a:rPr lang="zh-CN" sz="2100" dirty="0">
                                <a:solidFill>
                                  <a:srgbClr val="123D64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𝜙</m:t>
                            </m:r>
                          </m:e>
                        </m:d>
                      </m:e>
                    </m:func>
                  </m:oMath>
                </m:oMathPara>
              </a14:m>
              <a:endParaRPr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448818" y="3584575"/>
              <a:ext cx="2919032" cy="6656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700"/>
                </a:lnSpc>
              </a:pPr>
              <a:r>
                <a:rPr lang="zh-CN" sz="16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f 为每秒步数，左右周期为两步</a:t>
              </a:r>
              <a:br>
                <a:rPr lang="zh-CN" sz="16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</a:br>
              <a:r>
                <a:rPr lang="zh-CN" sz="16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pitch / roll 同相位并指数平滑</a:t>
              </a:r>
            </a:p>
          </p:txBody>
        </p:sp>
      </p:grpSp>
      <p:grpSp>
        <p:nvGrpSpPr>
          <p:cNvPr id="14" name="reprojection-method"/>
          <p:cNvGrpSpPr/>
          <p:nvPr/>
        </p:nvGrpSpPr>
        <p:grpSpPr>
          <a:xfrm>
            <a:off x="6198870" y="1692275"/>
            <a:ext cx="5488305" cy="2865882"/>
            <a:chOff x="6198870" y="1692275"/>
            <a:chExt cx="5488305" cy="2865882"/>
          </a:xfrm>
        </p:grpSpPr>
        <p:sp>
          <p:nvSpPr>
            <p:cNvPr id="10" name="TextBox 10"/>
            <p:cNvSpPr txBox="1"/>
            <p:nvPr/>
          </p:nvSpPr>
          <p:spPr>
            <a:xfrm>
              <a:off x="6198870" y="1692275"/>
              <a:ext cx="2891276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02 深度重投影与采样</a:t>
              </a:r>
            </a:p>
          </p:txBody>
        </p:sp>
        <p:sp>
          <p:nvSpPr>
            <p:cNvPr id="11" name="blur-vector"/>
            <p:cNvSpPr txBox="1">
              <a:spLocks noGrp="1"/>
            </p:cNvSpPr>
            <p:nvPr/>
          </p:nvSpPr>
          <p:spPr>
            <a:xfrm>
              <a:off x="6210300" y="2238375"/>
              <a:ext cx="5476875" cy="7429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ctr">
              <a:normAutofit/>
            </a:bodyPr>
            <a:lstStyle/>
            <a:p>
              <a:pPr algn="l"/>
              <a14:m xmlns:a14="http://schemas.microsoft.com/office/drawing/2010/main">
                <m:oMathPara xmlns:m="http://schemas.openxmlformats.org/officeDocument/2006/math">
                  <m:oMathParaPr>
                    <m:jc m:val="left"/>
                  </m:oMathParaPr>
                  <m:oMath>
                    <m:r>
                      <a:rPr lang="zh-CN" sz="2250" dirty="0">
                        <a:solidFill>
                          <a:srgbClr val="123D64"/>
                        </a:solidFill>
                        <a:latin typeface="Cambria Math"/>
                        <a:ea typeface="Cambria Math"/>
                        <a:cs typeface="Cambria Math"/>
                      </a:rPr>
                      <m:t>𝐝</m:t>
                    </m:r>
                    <m:r>
                      <a:rPr lang="zh-CN" sz="2250" dirty="0">
                        <a:solidFill>
                          <a:srgbClr val="123D64"/>
                        </a:solidFill>
                        <a:latin typeface="Cambria Math"/>
                        <a:ea typeface="Cambria Math"/>
                        <a:cs typeface="Cambria Math"/>
                      </a:rPr>
                      <m:t>=</m:t>
                    </m:r>
                    <m:d>
                      <m:dPr>
                        <m:ctrlPr>
                          <a:rPr lang="zh-CN" sz="2250" dirty="0">
                            <a:solidFill>
                              <a:srgbClr val="123D64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</m:ctrlPr>
                      </m:dPr>
                      <m:e>
                        <m:r>
                          <a:rPr lang="zh-CN" sz="2250" dirty="0">
                            <a:solidFill>
                              <a:srgbClr val="123D64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𝐮</m:t>
                        </m:r>
                        <m:r>
                          <a:rPr lang="zh-CN" sz="2250" dirty="0">
                            <a:solidFill>
                              <a:srgbClr val="123D64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−</m:t>
                        </m:r>
                        <m:sSub>
                          <m:sSubPr>
                            <m:ctrlPr>
                              <a:rPr lang="zh-CN" sz="2250" dirty="0">
                                <a:solidFill>
                                  <a:srgbClr val="123D64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sSubPr>
                          <m:e>
                            <m:r>
                              <a:rPr lang="zh-CN" sz="2250" dirty="0">
                                <a:solidFill>
                                  <a:srgbClr val="123D64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𝐮</m:t>
                            </m:r>
                          </m:e>
                          <m:sub>
                            <m:r>
                              <a:rPr lang="zh-CN" sz="2250" dirty="0">
                                <a:solidFill>
                                  <a:srgbClr val="123D64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𝑝𝑟𝑒𝑣</m:t>
                            </m:r>
                          </m:sub>
                        </m:sSub>
                      </m:e>
                    </m:d>
                    <m:f>
                      <m:fPr>
                        <m:ctrlPr>
                          <a:rPr lang="zh-CN" sz="2250" dirty="0">
                            <a:solidFill>
                              <a:srgbClr val="123D64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</m:ctrlPr>
                      </m:fPr>
                      <m:num>
                        <m:r>
                          <a:rPr lang="zh-CN" sz="2250" dirty="0">
                            <a:solidFill>
                              <a:srgbClr val="123D64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𝑇</m:t>
                        </m:r>
                        <m:d>
                          <m:dPr>
                            <m:ctrlPr>
                              <a:rPr lang="zh-CN" sz="2250" dirty="0">
                                <a:solidFill>
                                  <a:srgbClr val="123D64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r>
                              <a:rPr lang="zh-CN" sz="2250" dirty="0">
                                <a:solidFill>
                                  <a:srgbClr val="123D64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𝐸</m:t>
                            </m:r>
                          </m:e>
                        </m:d>
                        <m:r>
                          <a:rPr lang="zh-CN" sz="2250" dirty="0">
                            <a:solidFill>
                              <a:srgbClr val="123D64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𝐼𝐺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zh-CN" sz="2250" dirty="0">
                            <a:solidFill>
                              <a:srgbClr val="123D64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Δ</m:t>
                        </m:r>
                        <m:r>
                          <a:rPr lang="zh-CN" sz="2250" dirty="0">
                            <a:solidFill>
                              <a:srgbClr val="123D64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𝑡</m:t>
                        </m:r>
                      </m:den>
                    </m:f>
                  </m:oMath>
                </m:oMathPara>
              </a14:m>
              <a:endParaRPr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6201918" y="3146425"/>
              <a:ext cx="3306699" cy="10085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700"/>
                </a:lnSpc>
              </a:pPr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深度 + 当前 / 历史 VP 得到 u_prev</a:t>
              </a:r>
              <a:b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</a:br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沿轨迹追加 20 个样本，深度差降权</a:t>
              </a:r>
              <a:b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</a:br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归一化采样权重，保留常量亮度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6201918" y="4235450"/>
              <a:ext cx="450867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T(E)：曝光代理映射；I：强度；G：运动增益</a:t>
              </a:r>
            </a:p>
          </p:txBody>
        </p:sp>
      </p:grpSp>
      <p:grpSp>
        <p:nvGrpSpPr>
          <p:cNvPr id="23" name="shader-pipeline"/>
          <p:cNvGrpSpPr/>
          <p:nvPr/>
        </p:nvGrpSpPr>
        <p:grpSpPr>
          <a:xfrm>
            <a:off x="457200" y="4648200"/>
            <a:ext cx="11277600" cy="828675"/>
            <a:chOff x="457200" y="4648200"/>
            <a:chExt cx="11277600" cy="828675"/>
          </a:xfrm>
        </p:grpSpPr>
        <p:sp>
          <p:nvSpPr>
            <p:cNvPr id="15" name="Rectangle 15"/>
            <p:cNvSpPr/>
            <p:nvPr/>
          </p:nvSpPr>
          <p:spPr>
            <a:xfrm>
              <a:off x="457200" y="4648200"/>
              <a:ext cx="11277600" cy="828675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667893" y="4759325"/>
              <a:ext cx="134782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RGB + Depth</a:t>
              </a:r>
            </a:p>
          </p:txBody>
        </p:sp>
        <p:sp>
          <p:nvSpPr>
            <p:cNvPr id="17" name="Line 17"/>
            <p:cNvSpPr/>
            <p:nvPr/>
          </p:nvSpPr>
          <p:spPr>
            <a:xfrm>
              <a:off x="2476500" y="5076825"/>
              <a:ext cx="381000" cy="1"/>
            </a:xfrm>
            <a:prstGeom prst="line">
              <a:avLst/>
            </a:prstGeom>
            <a:noFill/>
            <a:ln w="23812">
              <a:solidFill>
                <a:schemeClr val="accent2"/>
              </a:solidFill>
              <a:tailEnd type="triangle" w="lg" len="lg"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3056382" y="4908550"/>
              <a:ext cx="1434846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位姿重投影</a:t>
              </a:r>
            </a:p>
          </p:txBody>
        </p:sp>
        <p:sp>
          <p:nvSpPr>
            <p:cNvPr id="19" name="Line 19"/>
            <p:cNvSpPr/>
            <p:nvPr/>
          </p:nvSpPr>
          <p:spPr>
            <a:xfrm>
              <a:off x="4953000" y="5076825"/>
              <a:ext cx="381000" cy="1"/>
            </a:xfrm>
            <a:prstGeom prst="line">
              <a:avLst/>
            </a:prstGeom>
            <a:noFill/>
            <a:ln w="23812">
              <a:solidFill>
                <a:schemeClr val="accent2"/>
              </a:solidFill>
              <a:tailEnd type="triangle" w="lg" len="lg"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5542407" y="4908550"/>
              <a:ext cx="2179472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Shader 加权采样</a:t>
              </a:r>
            </a:p>
          </p:txBody>
        </p:sp>
        <p:sp>
          <p:nvSpPr>
            <p:cNvPr id="21" name="Line 21"/>
            <p:cNvSpPr/>
            <p:nvPr/>
          </p:nvSpPr>
          <p:spPr>
            <a:xfrm>
              <a:off x="8143875" y="5076825"/>
              <a:ext cx="400050" cy="1"/>
            </a:xfrm>
            <a:prstGeom prst="line">
              <a:avLst/>
            </a:prstGeom>
            <a:noFill/>
            <a:ln w="23812">
              <a:solidFill>
                <a:schemeClr val="accent2"/>
              </a:solidFill>
              <a:tailEnd type="triangle" w="lg" len="lg"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8771382" y="4908550"/>
              <a:ext cx="1772227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1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Degraded RT</a:t>
              </a:r>
            </a:p>
          </p:txBody>
        </p:sp>
      </p:grpSp>
      <p:grpSp>
        <p:nvGrpSpPr>
          <p:cNvPr id="26" name="heuristic-boundary"/>
          <p:cNvGrpSpPr/>
          <p:nvPr/>
        </p:nvGrpSpPr>
        <p:grpSpPr>
          <a:xfrm>
            <a:off x="448818" y="5702300"/>
            <a:ext cx="7084160" cy="656082"/>
            <a:chOff x="448818" y="5702300"/>
            <a:chExt cx="7084160" cy="656082"/>
          </a:xfrm>
        </p:grpSpPr>
        <p:sp>
          <p:nvSpPr>
            <p:cNvPr id="24" name="TextBox 24"/>
            <p:cNvSpPr txBox="1"/>
            <p:nvPr/>
          </p:nvSpPr>
          <p:spPr>
            <a:xfrm>
              <a:off x="448818" y="5702300"/>
              <a:ext cx="659823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Heuristic approximation：运动增益与深度距离截断均为艺术参数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448818" y="6035675"/>
              <a:ext cx="708416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Exposure Proxy 未经实机标定，当前模型不等价于完整物理曝光积分。</a:t>
              </a:r>
            </a:p>
          </p:txBody>
        </p:sp>
      </p:grpSp>
      <p:grpSp>
        <p:nvGrpSpPr>
          <p:cNvPr id="30" name="page-footer"/>
          <p:cNvGrpSpPr/>
          <p:nvPr/>
        </p:nvGrpSpPr>
        <p:grpSpPr>
          <a:xfrm>
            <a:off x="451866" y="6477000"/>
            <a:ext cx="11288268" cy="297434"/>
            <a:chOff x="451866" y="6477000"/>
            <a:chExt cx="11288268" cy="297434"/>
          </a:xfrm>
        </p:grpSpPr>
        <p:sp>
          <p:nvSpPr>
            <p:cNvPr id="27" name="Line 27"/>
            <p:cNvSpPr/>
            <p:nvPr/>
          </p:nvSpPr>
          <p:spPr>
            <a:xfrm>
              <a:off x="457200" y="6477000"/>
              <a:ext cx="11277600" cy="9525"/>
            </a:xfrm>
            <a:custGeom>
              <a:avLst/>
              <a:gdLst/>
              <a:ahLst/>
              <a:cxnLst/>
              <a:rect l="l" t="t" r="r" b="b"/>
              <a:pathLst>
                <a:path w="11277600" h="9525">
                  <a:moveTo>
                    <a:pt x="0" y="0"/>
                  </a:moveTo>
                  <a:lnTo>
                    <a:pt x="11277600" y="0"/>
                  </a:lnTo>
                </a:path>
              </a:pathLst>
            </a:custGeom>
            <a:noFill/>
            <a:ln w="14288">
              <a:solidFill>
                <a:schemeClr val="accent6"/>
              </a:solidFill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451866" y="6569075"/>
              <a:ext cx="268177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Motion2RGB / VR 课程开题 / 2026.10.15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11255940" y="6569075"/>
              <a:ext cx="4841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05 / 07</a:t>
              </a:r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page-title"/>
          <p:cNvGrpSpPr/>
          <p:nvPr/>
        </p:nvGrpSpPr>
        <p:grpSpPr>
          <a:xfrm>
            <a:off x="441960" y="479425"/>
            <a:ext cx="4068128" cy="859282"/>
            <a:chOff x="441960" y="479425"/>
            <a:chExt cx="4068128" cy="859282"/>
          </a:xfrm>
        </p:grpSpPr>
        <p:sp>
          <p:nvSpPr>
            <p:cNvPr id="2" name="TextBox 2"/>
            <p:cNvSpPr txBox="1"/>
            <p:nvPr/>
          </p:nvSpPr>
          <p:spPr>
            <a:xfrm>
              <a:off x="441960" y="479425"/>
              <a:ext cx="1999345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当前 Demo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467868" y="1016000"/>
              <a:ext cx="404222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Current Demo Results / 20 秒真实录屏</a:t>
              </a:r>
            </a:p>
          </p:txBody>
        </p:sp>
      </p:grpSp>
      <p:pic>
        <p:nvPicPr>
          <p:cNvPr id="18" name="Motion2RGB Demo - click to play (20.57 seconds)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457200" y="1419225"/>
            <a:ext cx="8839200" cy="4972050"/>
          </a:xfrm>
          <a:prstGeom prst="rect">
            <a:avLst/>
          </a:prstGeom>
        </p:spPr>
      </p:pic>
      <p:grpSp>
        <p:nvGrpSpPr>
          <p:cNvPr id="9" name="demo-evidence"/>
          <p:cNvGrpSpPr/>
          <p:nvPr/>
        </p:nvGrpSpPr>
        <p:grpSpPr>
          <a:xfrm>
            <a:off x="9542907" y="1670050"/>
            <a:ext cx="1758315" cy="2211832"/>
            <a:chOff x="9542907" y="1670050"/>
            <a:chExt cx="1758315" cy="2211832"/>
          </a:xfrm>
        </p:grpSpPr>
        <p:sp>
          <p:nvSpPr>
            <p:cNvPr id="7" name="TextBox 7"/>
            <p:cNvSpPr txBox="1"/>
            <p:nvPr/>
          </p:nvSpPr>
          <p:spPr>
            <a:xfrm>
              <a:off x="9542907" y="1670050"/>
              <a:ext cx="1152144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已可展示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9545193" y="2111375"/>
              <a:ext cx="1756029" cy="17705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850"/>
                </a:lnSpc>
              </a:pPr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双 RGB 对比</a:t>
              </a:r>
              <a:b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</a:br>
              <a:r>
                <a:rPr lang="en-US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Walking / Running</a:t>
              </a:r>
              <a:br>
                <a:rPr lang="en-US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</a:br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转向过程</a:t>
              </a:r>
              <a:b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</a:br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实时参数 UI</a:t>
              </a:r>
              <a:b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</a:br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机器人观察窗</a:t>
              </a:r>
            </a:p>
          </p:txBody>
        </p:sp>
      </p:grpSp>
      <p:grpSp>
        <p:nvGrpSpPr>
          <p:cNvPr id="13" name="demo-boundary"/>
          <p:cNvGrpSpPr/>
          <p:nvPr/>
        </p:nvGrpSpPr>
        <p:grpSpPr>
          <a:xfrm>
            <a:off x="9542907" y="4562475"/>
            <a:ext cx="2191893" cy="1608582"/>
            <a:chOff x="9542907" y="4562475"/>
            <a:chExt cx="2191893" cy="1608582"/>
          </a:xfrm>
        </p:grpSpPr>
        <p:sp>
          <p:nvSpPr>
            <p:cNvPr id="10" name="Line 10"/>
            <p:cNvSpPr/>
            <p:nvPr/>
          </p:nvSpPr>
          <p:spPr>
            <a:xfrm>
              <a:off x="9553575" y="4562475"/>
              <a:ext cx="2181225" cy="9525"/>
            </a:xfrm>
            <a:custGeom>
              <a:avLst/>
              <a:gdLst/>
              <a:ahLst/>
              <a:cxnLst/>
              <a:rect l="l" t="t" r="r" b="b"/>
              <a:pathLst>
                <a:path w="2181225" h="9525">
                  <a:moveTo>
                    <a:pt x="0" y="0"/>
                  </a:moveTo>
                  <a:lnTo>
                    <a:pt x="2181225" y="0"/>
                  </a:lnTo>
                </a:path>
              </a:pathLst>
            </a:custGeom>
            <a:noFill/>
            <a:ln w="14288">
              <a:solidFill>
                <a:schemeClr val="accent6"/>
              </a:solidFill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542907" y="4727575"/>
              <a:ext cx="869442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待验证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9545193" y="5143500"/>
              <a:ext cx="1483614" cy="102755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775"/>
                </a:lnSpc>
              </a:pPr>
              <a:r>
                <a:rPr lang="zh-CN" sz="16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实机标定</a:t>
              </a:r>
              <a:br>
                <a:rPr lang="zh-CN" sz="16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</a:br>
              <a:r>
                <a:rPr lang="zh-CN" sz="16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图像质量量化</a:t>
              </a:r>
              <a:br>
                <a:rPr lang="zh-CN" sz="16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</a:br>
              <a:r>
                <a:rPr lang="zh-CN" sz="16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导航鲁棒性收益</a:t>
              </a:r>
            </a:p>
          </p:txBody>
        </p:sp>
      </p:grpSp>
      <p:grpSp>
        <p:nvGrpSpPr>
          <p:cNvPr id="17" name="page-footer"/>
          <p:cNvGrpSpPr/>
          <p:nvPr/>
        </p:nvGrpSpPr>
        <p:grpSpPr>
          <a:xfrm>
            <a:off x="451866" y="6477000"/>
            <a:ext cx="11288268" cy="297434"/>
            <a:chOff x="451866" y="6477000"/>
            <a:chExt cx="11288268" cy="297434"/>
          </a:xfrm>
        </p:grpSpPr>
        <p:sp>
          <p:nvSpPr>
            <p:cNvPr id="14" name="Line 14"/>
            <p:cNvSpPr/>
            <p:nvPr/>
          </p:nvSpPr>
          <p:spPr>
            <a:xfrm>
              <a:off x="457200" y="6477000"/>
              <a:ext cx="11277600" cy="9525"/>
            </a:xfrm>
            <a:custGeom>
              <a:avLst/>
              <a:gdLst/>
              <a:ahLst/>
              <a:cxnLst/>
              <a:rect l="l" t="t" r="r" b="b"/>
              <a:pathLst>
                <a:path w="11277600" h="9525">
                  <a:moveTo>
                    <a:pt x="0" y="0"/>
                  </a:moveTo>
                  <a:lnTo>
                    <a:pt x="11277600" y="0"/>
                  </a:lnTo>
                </a:path>
              </a:pathLst>
            </a:custGeom>
            <a:noFill/>
            <a:ln w="14288">
              <a:solidFill>
                <a:schemeClr val="accent6"/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451866" y="6569075"/>
              <a:ext cx="268177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Motion2RGB / VR 课程开题 / 2026.10.15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1255940" y="6569075"/>
              <a:ext cx="4841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06 / 07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18"/>
                </p:tgtEl>
              </p:cMediaNode>
            </p:video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page-title"/>
          <p:cNvGrpSpPr/>
          <p:nvPr/>
        </p:nvGrpSpPr>
        <p:grpSpPr>
          <a:xfrm>
            <a:off x="441960" y="479425"/>
            <a:ext cx="3665220" cy="859282"/>
            <a:chOff x="441960" y="479425"/>
            <a:chExt cx="3665220" cy="859282"/>
          </a:xfrm>
        </p:grpSpPr>
        <p:sp>
          <p:nvSpPr>
            <p:cNvPr id="2" name="TextBox 2"/>
            <p:cNvSpPr txBox="1"/>
            <p:nvPr/>
          </p:nvSpPr>
          <p:spPr>
            <a:xfrm>
              <a:off x="441960" y="479425"/>
              <a:ext cx="3665220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后续工作与预期产出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467868" y="1016000"/>
              <a:ext cx="358050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Next Steps &amp; Expected Outcomes</a:t>
              </a:r>
            </a:p>
          </p:txBody>
        </p:sp>
      </p:grpSp>
      <p:grpSp>
        <p:nvGrpSpPr>
          <p:cNvPr id="15" name="required-work"/>
          <p:cNvGrpSpPr/>
          <p:nvPr/>
        </p:nvGrpSpPr>
        <p:grpSpPr>
          <a:xfrm>
            <a:off x="445770" y="1720850"/>
            <a:ext cx="5128984" cy="3478530"/>
            <a:chOff x="445770" y="1720850"/>
            <a:chExt cx="5128984" cy="3478530"/>
          </a:xfrm>
        </p:grpSpPr>
        <p:sp>
          <p:nvSpPr>
            <p:cNvPr id="5" name="TextBox 5"/>
            <p:cNvSpPr txBox="1"/>
            <p:nvPr/>
          </p:nvSpPr>
          <p:spPr>
            <a:xfrm>
              <a:off x="445770" y="1720850"/>
              <a:ext cx="3657600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必做：完善可重复实验原型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445770" y="2320925"/>
              <a:ext cx="372704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01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1046607" y="2346325"/>
              <a:ext cx="3131058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丰富室内场景与运动模式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445770" y="3016250"/>
              <a:ext cx="372704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02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046607" y="3041650"/>
              <a:ext cx="3413760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验证深度重投影与运动平滑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445770" y="3711575"/>
              <a:ext cx="372704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03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046607" y="3736975"/>
              <a:ext cx="3491103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Same Pose 消融与量化测试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048893" y="4140200"/>
              <a:ext cx="452586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清晰度 / 图像差异 / 帧耗时，记录参数与状态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445770" y="4759325"/>
              <a:ext cx="372704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04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046607" y="4784725"/>
              <a:ext cx="3131058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最终系统展示与期末报告</a:t>
              </a:r>
            </a:p>
          </p:txBody>
        </p:sp>
      </p:grpSp>
      <p:grpSp>
        <p:nvGrpSpPr>
          <p:cNvPr id="20" name="optional-extension"/>
          <p:cNvGrpSpPr/>
          <p:nvPr/>
        </p:nvGrpSpPr>
        <p:grpSpPr>
          <a:xfrm>
            <a:off x="8172450" y="1695450"/>
            <a:ext cx="2948178" cy="3571875"/>
            <a:chOff x="8172450" y="1695450"/>
            <a:chExt cx="2948178" cy="3571875"/>
          </a:xfrm>
        </p:grpSpPr>
        <p:sp>
          <p:nvSpPr>
            <p:cNvPr id="16" name="Line 16"/>
            <p:cNvSpPr/>
            <p:nvPr/>
          </p:nvSpPr>
          <p:spPr>
            <a:xfrm>
              <a:off x="8172450" y="1695450"/>
              <a:ext cx="9525" cy="3571875"/>
            </a:xfrm>
            <a:custGeom>
              <a:avLst/>
              <a:gdLst/>
              <a:ahLst/>
              <a:cxnLst/>
              <a:rect l="l" t="t" r="r" b="b"/>
              <a:pathLst>
                <a:path w="9525" h="3571875">
                  <a:moveTo>
                    <a:pt x="0" y="0"/>
                  </a:moveTo>
                  <a:lnTo>
                    <a:pt x="0" y="3571875"/>
                  </a:lnTo>
                </a:path>
              </a:pathLst>
            </a:custGeom>
            <a:noFill/>
            <a:ln w="14288">
              <a:solidFill>
                <a:schemeClr val="accent6"/>
              </a:solidFill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8484870" y="1720850"/>
              <a:ext cx="1840230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可选研究扩展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8485632" y="2168525"/>
              <a:ext cx="2634996" cy="164896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4875"/>
                </a:lnSpc>
              </a:pPr>
              <a:r>
                <a:rPr lang="zh-CN" sz="21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真实相机数据标定</a:t>
              </a:r>
              <a:br>
                <a:rPr lang="zh-CN" sz="21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</a:br>
              <a:r>
                <a:rPr lang="zh-CN" sz="21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动态物体 Motion Blur</a:t>
              </a:r>
              <a:br>
                <a:rPr lang="zh-CN" sz="21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</a:br>
              <a:r>
                <a:rPr lang="zh-CN" sz="21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视觉导航评测接口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8487918" y="4518025"/>
              <a:ext cx="2321814" cy="6656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700"/>
                </a:lnSpc>
              </a:pPr>
              <a:r>
                <a:rPr lang="zh-CN" sz="16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深度感知已在代码中实现</a:t>
              </a:r>
              <a:br>
                <a:rPr lang="zh-CN" sz="16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</a:br>
              <a:r>
                <a:rPr lang="zh-CN" sz="16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后续重点是验证与校准</a:t>
              </a:r>
            </a:p>
          </p:txBody>
        </p:sp>
      </p:grpSp>
      <p:grpSp>
        <p:nvGrpSpPr>
          <p:cNvPr id="24" name="expected-result"/>
          <p:cNvGrpSpPr/>
          <p:nvPr/>
        </p:nvGrpSpPr>
        <p:grpSpPr>
          <a:xfrm>
            <a:off x="457200" y="5619750"/>
            <a:ext cx="11277600" cy="738632"/>
            <a:chOff x="457200" y="5619750"/>
            <a:chExt cx="11277600" cy="738632"/>
          </a:xfrm>
        </p:grpSpPr>
        <p:sp>
          <p:nvSpPr>
            <p:cNvPr id="21" name="Rectangle 21"/>
            <p:cNvSpPr/>
            <p:nvPr/>
          </p:nvSpPr>
          <p:spPr>
            <a:xfrm>
              <a:off x="457200" y="5619750"/>
              <a:ext cx="11277600" cy="6858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646557" y="5689600"/>
              <a:ext cx="6663766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预期产出：可控的第一视角 RGB 采集与退化对比系统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648843" y="6035675"/>
              <a:ext cx="401497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为后续视觉导航鲁棒性评测提供实验原型</a:t>
              </a:r>
            </a:p>
          </p:txBody>
        </p:sp>
      </p:grpSp>
      <p:grpSp>
        <p:nvGrpSpPr>
          <p:cNvPr id="28" name="page-footer"/>
          <p:cNvGrpSpPr/>
          <p:nvPr/>
        </p:nvGrpSpPr>
        <p:grpSpPr>
          <a:xfrm>
            <a:off x="451866" y="6477000"/>
            <a:ext cx="11288268" cy="297434"/>
            <a:chOff x="451866" y="6477000"/>
            <a:chExt cx="11288268" cy="297434"/>
          </a:xfrm>
        </p:grpSpPr>
        <p:sp>
          <p:nvSpPr>
            <p:cNvPr id="25" name="Line 25"/>
            <p:cNvSpPr/>
            <p:nvPr/>
          </p:nvSpPr>
          <p:spPr>
            <a:xfrm>
              <a:off x="457200" y="6477000"/>
              <a:ext cx="11277600" cy="9525"/>
            </a:xfrm>
            <a:custGeom>
              <a:avLst/>
              <a:gdLst/>
              <a:ahLst/>
              <a:cxnLst/>
              <a:rect l="l" t="t" r="r" b="b"/>
              <a:pathLst>
                <a:path w="11277600" h="9525">
                  <a:moveTo>
                    <a:pt x="0" y="0"/>
                  </a:moveTo>
                  <a:lnTo>
                    <a:pt x="11277600" y="0"/>
                  </a:lnTo>
                </a:path>
              </a:pathLst>
            </a:custGeom>
            <a:noFill/>
            <a:ln w="14288">
              <a:solidFill>
                <a:schemeClr val="accent6"/>
              </a:solidFill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451866" y="6569075"/>
              <a:ext cx="268177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Motion2RGB / VR 课程开题 / 2026.10.15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11255940" y="6569075"/>
              <a:ext cx="4841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07 / 07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Motion2RGB_Proposal">
  <a:themeElements>
    <a:clrScheme name="Motion2RGB_Proposal">
      <a:dk1>
        <a:srgbClr val="222C35"/>
      </a:dk1>
      <a:lt1>
        <a:srgbClr val="FFFFFF"/>
      </a:lt1>
      <a:dk2>
        <a:srgbClr val="1F497D"/>
      </a:dk2>
      <a:lt2>
        <a:srgbClr val="F2F5F7"/>
      </a:lt2>
      <a:accent1>
        <a:srgbClr val="123D64"/>
      </a:accent1>
      <a:accent2>
        <a:srgbClr val="0089AA"/>
      </a:accent2>
      <a:accent3>
        <a:srgbClr val="B87924"/>
      </a:accent3>
      <a:accent4>
        <a:srgbClr val="123D64"/>
      </a:accent4>
      <a:accent5>
        <a:srgbClr val="576772"/>
      </a:accent5>
      <a:accent6>
        <a:srgbClr val="D6DFE5"/>
      </a:accent6>
      <a:hlink>
        <a:srgbClr val="0089AA"/>
      </a:hlink>
      <a:folHlink>
        <a:srgbClr val="B87924"/>
      </a:folHlink>
    </a:clrScheme>
    <a:fontScheme name="Motion2RGB_Proposal">
      <a:maj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Motion2RGB_Proposal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Motion2RGB_Proposal">
  <a:themeElements>
    <a:clrScheme name="Motion2RGB_Proposal">
      <a:dk1>
        <a:srgbClr val="222C35"/>
      </a:dk1>
      <a:lt1>
        <a:srgbClr val="FFFFFF"/>
      </a:lt1>
      <a:dk2>
        <a:srgbClr val="1F497D"/>
      </a:dk2>
      <a:lt2>
        <a:srgbClr val="F2F5F7"/>
      </a:lt2>
      <a:accent1>
        <a:srgbClr val="123D64"/>
      </a:accent1>
      <a:accent2>
        <a:srgbClr val="0089AA"/>
      </a:accent2>
      <a:accent3>
        <a:srgbClr val="B87924"/>
      </a:accent3>
      <a:accent4>
        <a:srgbClr val="123D64"/>
      </a:accent4>
      <a:accent5>
        <a:srgbClr val="576772"/>
      </a:accent5>
      <a:accent6>
        <a:srgbClr val="D6DFE5"/>
      </a:accent6>
      <a:hlink>
        <a:srgbClr val="0089AA"/>
      </a:hlink>
      <a:folHlink>
        <a:srgbClr val="B87924"/>
      </a:folHlink>
    </a:clrScheme>
    <a:fontScheme name="Motion2RGB_Proposal">
      <a:maj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Motion2RGB_Proposal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241</TotalTime>
  <Words>2581</Words>
  <Application>Microsoft Office PowerPoint</Application>
  <PresentationFormat>宽屏</PresentationFormat>
  <Paragraphs>126</Paragraphs>
  <Slides>7</Slides>
  <Notes>7</Notes>
  <HiddenSlides>0</HiddenSlides>
  <MMClips>1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</vt:i4>
      </vt:variant>
    </vt:vector>
  </HeadingPairs>
  <TitlesOfParts>
    <vt:vector size="11" baseType="lpstr">
      <vt:lpstr>Microsoft YaHei</vt:lpstr>
      <vt:lpstr>Arial</vt:lpstr>
      <vt:lpstr>Cambria Math</vt:lpstr>
      <vt:lpstr>Motion2RGB_Proposal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cp:lastModifiedBy>黄祥耘</cp:lastModifiedBy>
  <cp:revision>6</cp:revision>
  <dcterms:created xsi:type="dcterms:W3CDTF">2026-10-12T03:06:25Z</dcterms:created>
  <dcterms:modified xsi:type="dcterms:W3CDTF">2026-10-12T07:55:36Z</dcterms:modified>
  <cp:category/>
  <cp:contentStatus/>
  <dc:language>zh-CN</dc:language>
</cp:coreProperties>
</file>